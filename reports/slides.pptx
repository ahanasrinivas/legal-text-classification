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task. We classify US Supreme Court opinions into the 13 issue areas of the Supreme Court Database. The project reproduces the two methods of a Stanford CS229 report, adds strong linear baselines and a legal-domain Transformer, and is fully reproducible: every number on these slides is generated from the files in results/. Then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input is the full text of one opinion; the output is exactly one issue area, so this is single-label multi-class classification. Two things make it hard: documents are very long and the classes are very imbalanced. The reference project by Iyer tried LDA topics and Doc2Vec vectors with logistic regression; its BERT attempt ran out of memory, so it has no Transformer result. Our goal is to reproduce those methods on a public benchmark with fixed splits, add TF-IDF baselines and Legal-BERT, and report the results honestly.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opinion has to be catalogued by subject before lawyers and researchers can find it; doing this by hand is slow. Legal opinions are a hard test for NLP: they open with captions, citations and counsel names, the reasoning is long, and the vocabulary is specialised. A practical question follows: is it better to read the whole document with a simple model or only the opening with a strong pretrained model? Because some issue areas are rare, we judge models by macro F1, which weights every area equally, instead of accuracy.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the SCOTUS task of the LexGLUE benchmark from the Hugging Face Hub. It has 7,800 opinions in official splits that LexGLUE created chronologically: training 1946–1982, validation 1982–1991, test 1991–2016. We found no empty texts and no exact duplicates within or across splits. The chart shows the imbalance: Economic Activity has 1,043 training documents and Miscellaneous only 3, a ratio of 347.7 to 1. In the test split the rarest classes have 3, 15, 17 documents, so their F1 scores are very noisy.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flows left to right. Text is normalised, and every feature extractor is fitted on the training split only. Each feature type feeds its classifier: TF-IDF into LinearSVC and logistic regression, raw counts into LDA, tokens into Doc2Vec, and word pieces into Legal-BERT. Hyperparameters are chosen on validation; the test split is predicted once per model. Every model saves its predictions, and one script, evaluate_all.py, computes all metrics, confidence intervals, confusion matrices and the error analysis from those files. The README, write-up, slides and demo all read from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Normalisation is deliberately conservative. We apply Unicode NFKC, lower-case the text and collapse whitespace. Standalone numbers are deleted, because reporter citations, docket numbers and years identify the period of a case rather than its topic, and our split is chronological. Tokens like 12th survive. We use scikit-learn's English stop words but keep words that change legal meaning, such as not, shall, must and unless. There is no stemming. A validation-only check with the earlier saga model gave macro F1 0.580 with numbers removed and 0.556 with them kept; that model was under-converged, so this is only a rough indication. Most important: every vectorizer and embedding model is fitted on the training split only, and a unit test checks that a validation-only word never enters the vocabulary.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classical models share one TF-IDF matrix of word unigrams and bigrams, capped at 10,000 features, with sublinear term frequency, fitted on train. LinearSVC minimises the squared hinge loss with L2 regularisation; C = 1.0 was best of 0.01, 0.1, 1.0 on validation. For logistic regression the first attempt used the saga solver with only 5 iterations and tolerance 0.5, so it stopped long before convergence: validation macro F1 0.580. We kept it only for transparency and replaced it with SGDClassifier on log loss, which is logistic regression trained by stochastic gradient descent. With alpha 1e-5 it converged after 9 of 50 epochs and reached 0.712 on validation. No class weights were used.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reference paper's two methods. For LDA we use raw word counts, which suit LDA's multinomial model better than the TF-IDF input the paper describes. We swept the number of topics over 10, 20, 30, 40 on validation; K = 40 was best, at the edge of the grid. Doc2Vec is the PV-DM paragraph-vector model with 100 dimensions, trained on train only; validation and test vectors are inferred. Both ran in reduced CPU configurations: LDA with 500 count features and 2 iterations, Doc2Vec with 5 epochs on the first 500 tokens. Their test macro F1, 0.321 and 0.322, is far below TF-IDF, but we do not claim the methods are weak in general.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fine-tuned nlpaueb/legal-bert-base-uncased, a BERT model pretrained on legal text, with a classification head. BERT reads at most 512 tokens, and these opinions are long: on a 500-document sample the median is about 5,470 tokens, 93 percent exceed the limit, and the first 512 tokens cover about 20 percent of a document. Training: 3 epochs, batch 8 with gradient accumulation 2, learning rate 2e-5, weight decay 0.01, mixed precision, plain cross-entropy, best epoch by validation macro F1, on a Colab Tesla T4 in 19.6 minutes. Three identical runs gave test macro F1 between 0.5124 and 0.5319; we report the 0.5124 run, and the demo weights come from the rerun.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final test results; macro F1 is the primary metric and the intervals are bootstrap 95 percent intervals over 1,000 test resamples. The two TF-IDF models are best, LinearSVC 0.635 and logistic regression 0.629; their intervals overlap, so we do not rank one above the other. Legal-BERT has accuracy close to them, 0.724, but macro F1 only 0.512: it does well on the large classes and badly on the small ones. Its interval and LinearSVC's do not overlap. The paper methods are near 0.321. The saga row is the under-converged reference, and the majority baseline shows why accuracy alone is misleading.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Legal-BERT's normalised confusion matrix on the test split. The most frequent confusion is Federalism → Economic Activity for both LinearSVC (37 test cases) and Legal-BERT (49). Judicial Power is often confused with Economic Activity, Criminal Procedure and Civil Rights. Legal-BERT never correctly predicts Attorneys and Miscellaneous, and recalls only 7 percent of Federalism and 13 percent of Interstate Relations. The two models make different mistakes: 121 test cases are right only for LinearSVC, 103 only for Legal-BERT, and 265 are wrong for both. Accuracy changes little across document-length quartiles: LinearSVC 0.694 to 0.769, Legal-BERT 0.706 to 0.732. These explanations are hypotheses from saved predictions, not tested causes.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streamlit run app.py. In the Classify tab, pick a sample test case, one per class, or paste any opinion, choose models and press Classify. Each model shows its prediction and its top five scores: probabilities for logistic regression and Legal-BERT, margin scores for LinearSVC. Legal-BERT also reports how much of the text it could read. Below, the app shows the stored predictions each model made on the full opinion. The Results tab shows the same metrics as these slides, read from results/. Two honest caveats: the demo Legal-BERT weights are from the rerun, and the demo LinearSVC artifact uses C = 0.1 rather than the reported 1.0; the app says both on screen.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 to be clear about what these results do and do not show. Legal-BERT read only the first 512 tokens, about 20 percent of a typical opinion, so its result is for truncated input. LDA and Doc2Vec ran in reduced CPU configurations. Every model was trained once with one seed, and Legal-BERT alone varied between 0.5124 and 0.5319. The split is chronological, so test cases come from a later period; every trained model drops from validation to test. The rarest test classes have 3, 15, 17 documents, so macro F1 is noisy. Our bootstrap intervals are unpaired and only capture test sampling. No model used class weights.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simple linear models that read the whole document were the best, at about 0.635 macro F1. Legal-BERT on the opening of each opinion reached similar accuracy but much lower macro F1, mainly because it fails on rare classes; we think truncation and the lack of class weighting explain much of this, but we have not tested it. The paper's methods trail behind in our reduced configurations. Next steps: a hierarchical or long-document Transformer over the whole opinion, class-weighted loss and several seeds with paired tests, full-size LDA and Doc2Vec, and removing the caption and counsel header before classifying.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four sources we rely on. The chronological split and its years come from the LexGLUE paper, section three; the labels come from the Supreme Court Database. The code, results and these documents are in the GitHub repository; the fitted demo models are on the Hugging Face Hub.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463040" cy="73152"/>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10515600" cy="1097280"/>
          </a:xfrm>
          <a:prstGeom prst="rect">
            <a:avLst/>
          </a:prstGeom>
          <a:noFill/>
        </p:spPr>
        <p:txBody>
          <a:bodyPr wrap="square" anchor="b" lIns="45720" rIns="45720">
            <a:spAutoFit/>
          </a:bodyPr>
          <a:lstStyle/>
          <a:p>
            <a:pPr algn="l">
              <a:lnSpc>
                <a:spcPct val="105000"/>
              </a:lnSpc>
              <a:spcAft>
                <a:spcPts val="800"/>
              </a:spcAft>
            </a:pPr>
            <a:r>
              <a:rPr sz="4400" b="1">
                <a:solidFill>
                  <a:srgbClr val="FFFFFF"/>
                </a:solidFill>
                <a:latin typeface="Calibri"/>
              </a:rPr>
              <a:t>Classification of Legal Text</a:t>
            </a:r>
          </a:p>
        </p:txBody>
      </p:sp>
      <p:sp>
        <p:nvSpPr>
          <p:cNvPr id="5" name="TextBox 4"/>
          <p:cNvSpPr txBox="1"/>
          <p:nvPr/>
        </p:nvSpPr>
        <p:spPr>
          <a:xfrm>
            <a:off x="731520" y="2560320"/>
            <a:ext cx="10515600" cy="640080"/>
          </a:xfrm>
          <a:prstGeom prst="rect">
            <a:avLst/>
          </a:prstGeom>
          <a:noFill/>
        </p:spPr>
        <p:txBody>
          <a:bodyPr wrap="square" anchor="t" lIns="45720" rIns="45720">
            <a:spAutoFit/>
          </a:bodyPr>
          <a:lstStyle/>
          <a:p>
            <a:pPr algn="l">
              <a:lnSpc>
                <a:spcPct val="105000"/>
              </a:lnSpc>
              <a:spcAft>
                <a:spcPts val="800"/>
              </a:spcAft>
            </a:pPr>
            <a:r>
              <a:rPr sz="2400" b="0">
                <a:solidFill>
                  <a:srgbClr val="FFFFFF"/>
                </a:solidFill>
                <a:latin typeface="Calibri"/>
              </a:rPr>
              <a:t>Predicting the issue area of US Supreme Court opinions</a:t>
            </a:r>
          </a:p>
        </p:txBody>
      </p:sp>
      <p:sp>
        <p:nvSpPr>
          <p:cNvPr id="6" name="TextBox 5"/>
          <p:cNvSpPr txBox="1"/>
          <p:nvPr/>
        </p:nvSpPr>
        <p:spPr>
          <a:xfrm>
            <a:off x="731520" y="3566160"/>
            <a:ext cx="10515600" cy="1097280"/>
          </a:xfrm>
          <a:prstGeom prst="rect">
            <a:avLst/>
          </a:prstGeom>
          <a:noFill/>
        </p:spPr>
        <p:txBody>
          <a:bodyPr wrap="square" anchor="t" lIns="45720" rIns="45720">
            <a:spAutoFit/>
          </a:bodyPr>
          <a:lstStyle/>
          <a:p>
            <a:pPr algn="l">
              <a:lnSpc>
                <a:spcPct val="105000"/>
              </a:lnSpc>
              <a:spcAft>
                <a:spcPts val="400"/>
              </a:spcAft>
            </a:pPr>
            <a:r>
              <a:rPr sz="2000" b="0">
                <a:solidFill>
                  <a:srgbClr val="FFFFFF"/>
                </a:solidFill>
                <a:latin typeface="Calibri"/>
              </a:rPr>
              <a:t>[Member 1 Name / SRN]</a:t>
            </a:r>
          </a:p>
          <a:p>
            <a:pPr algn="l">
              <a:lnSpc>
                <a:spcPct val="105000"/>
              </a:lnSpc>
              <a:spcAft>
                <a:spcPts val="400"/>
              </a:spcAft>
            </a:pPr>
            <a:r>
              <a:rPr sz="2000" b="0">
                <a:solidFill>
                  <a:srgbClr val="FFFFFF"/>
                </a:solidFill>
                <a:latin typeface="Calibri"/>
              </a:rPr>
              <a:t>[Member 2 Name / SRN]</a:t>
            </a:r>
          </a:p>
        </p:txBody>
      </p:sp>
      <p:sp>
        <p:nvSpPr>
          <p:cNvPr id="7" name="TextBox 6"/>
          <p:cNvSpPr txBox="1"/>
          <p:nvPr/>
        </p:nvSpPr>
        <p:spPr>
          <a:xfrm>
            <a:off x="731520" y="5120640"/>
            <a:ext cx="10515600" cy="914400"/>
          </a:xfrm>
          <a:prstGeom prst="rect">
            <a:avLst/>
          </a:prstGeom>
          <a:noFill/>
        </p:spPr>
        <p:txBody>
          <a:bodyPr wrap="square" anchor="t" lIns="45720" rIns="45720">
            <a:spAutoFit/>
          </a:bodyPr>
          <a:lstStyle/>
          <a:p>
            <a:pPr algn="l">
              <a:lnSpc>
                <a:spcPct val="105000"/>
              </a:lnSpc>
              <a:spcAft>
                <a:spcPts val="200"/>
              </a:spcAft>
            </a:pPr>
            <a:r>
              <a:rPr sz="1400" b="0">
                <a:solidFill>
                  <a:srgbClr val="C8D6E8"/>
                </a:solidFill>
                <a:latin typeface="Calibri"/>
              </a:rPr>
              <a:t>UE24CS352A Machine Learning · Mini-project review</a:t>
            </a:r>
          </a:p>
          <a:p>
            <a:pPr algn="l">
              <a:lnSpc>
                <a:spcPct val="105000"/>
              </a:lnSpc>
              <a:spcAft>
                <a:spcPts val="200"/>
              </a:spcAft>
            </a:pPr>
            <a:r>
              <a:rPr sz="1400" b="0">
                <a:solidFill>
                  <a:srgbClr val="C8D6E8"/>
                </a:solidFill>
                <a:latin typeface="Calibri"/>
              </a:rPr>
              <a:t>github.com/AhanaSrinivas/legal-text-classification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Problem</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2 / 15</a:t>
            </a:r>
          </a:p>
        </p:txBody>
      </p:sp>
      <p:sp>
        <p:nvSpPr>
          <p:cNvPr id="6" name="TextBox 5"/>
          <p:cNvSpPr txBox="1"/>
          <p:nvPr/>
        </p:nvSpPr>
        <p:spPr>
          <a:xfrm>
            <a:off x="548640" y="1417320"/>
            <a:ext cx="5852160" cy="4754880"/>
          </a:xfrm>
          <a:prstGeom prst="rect">
            <a:avLst/>
          </a:prstGeom>
          <a:noFill/>
        </p:spPr>
        <p:txBody>
          <a:bodyPr wrap="square" anchor="t" lIns="45720" rIns="45720">
            <a:spAutoFit/>
          </a:bodyPr>
          <a:lstStyle/>
          <a:p>
            <a:pPr algn="l" marL="274320" indent="-274320">
              <a:lnSpc>
                <a:spcPct val="105000"/>
              </a:lnSpc>
              <a:spcAft>
                <a:spcPts val="1200"/>
              </a:spcAft>
              <a:buClr>
                <a:srgbClr val="E8A33D"/>
              </a:buClr>
              <a:buFont typeface="Arial"/>
              <a:buChar char="•"/>
            </a:pPr>
            <a:r>
              <a:rPr sz="1900" b="1">
                <a:solidFill>
                  <a:srgbClr val="1F2933"/>
                </a:solidFill>
                <a:latin typeface="Calibri"/>
              </a:rPr>
              <a:t>Input:</a:t>
            </a:r>
            <a:r>
              <a:rPr sz="1900" b="0">
                <a:solidFill>
                  <a:srgbClr val="1F2933"/>
                </a:solidFill>
                <a:latin typeface="Calibri"/>
              </a:rPr>
              <a:t> full text of a US Supreme Court opinion</a:t>
            </a:r>
          </a:p>
          <a:p>
            <a:pPr algn="l" marL="274320" indent="-274320">
              <a:lnSpc>
                <a:spcPct val="105000"/>
              </a:lnSpc>
              <a:spcAft>
                <a:spcPts val="1200"/>
              </a:spcAft>
              <a:buClr>
                <a:srgbClr val="E8A33D"/>
              </a:buClr>
              <a:buFont typeface="Arial"/>
              <a:buChar char="•"/>
            </a:pPr>
            <a:r>
              <a:rPr sz="1900" b="1">
                <a:solidFill>
                  <a:srgbClr val="1F2933"/>
                </a:solidFill>
                <a:latin typeface="Calibri"/>
              </a:rPr>
              <a:t>Output:</a:t>
            </a:r>
            <a:r>
              <a:rPr sz="1900" b="0">
                <a:solidFill>
                  <a:srgbClr val="1F2933"/>
                </a:solidFill>
                <a:latin typeface="Calibri"/>
              </a:rPr>
              <a:t> one of 13 SCDB issue areas</a:t>
            </a:r>
          </a:p>
          <a:p>
            <a:pPr algn="l" marL="274320" indent="-274320">
              <a:lnSpc>
                <a:spcPct val="105000"/>
              </a:lnSpc>
              <a:spcAft>
                <a:spcPts val="1200"/>
              </a:spcAft>
              <a:buClr>
                <a:srgbClr val="E8A33D"/>
              </a:buClr>
              <a:buFont typeface="Arial"/>
              <a:buChar char="•"/>
            </a:pPr>
            <a:r>
              <a:rPr sz="1900" b="0">
                <a:solidFill>
                  <a:srgbClr val="1F2933"/>
                </a:solidFill>
                <a:latin typeface="Calibri"/>
              </a:rPr>
              <a:t>Single-label, multi-class; long documents; strong class imbalance</a:t>
            </a:r>
          </a:p>
          <a:p>
            <a:pPr algn="l" marL="274320" indent="-274320">
              <a:lnSpc>
                <a:spcPct val="105000"/>
              </a:lnSpc>
              <a:spcAft>
                <a:spcPts val="1200"/>
              </a:spcAft>
              <a:buClr>
                <a:srgbClr val="E8A33D"/>
              </a:buClr>
              <a:buFont typeface="Arial"/>
              <a:buChar char="•"/>
            </a:pPr>
            <a:r>
              <a:rPr sz="1900" b="1">
                <a:solidFill>
                  <a:srgbClr val="1F2933"/>
                </a:solidFill>
                <a:latin typeface="Calibri"/>
              </a:rPr>
              <a:t>Reference:</a:t>
            </a:r>
            <a:r>
              <a:rPr sz="1900" b="0">
                <a:solidFill>
                  <a:srgbClr val="1F2933"/>
                </a:solidFill>
                <a:latin typeface="Calibri"/>
              </a:rPr>
              <a:t> Iyer, Stanford CS229 (2020): LDA + LR and Doc2Vec + LR; BERT ran out of memory</a:t>
            </a:r>
          </a:p>
          <a:p>
            <a:pPr algn="l" marL="274320" indent="-274320">
              <a:lnSpc>
                <a:spcPct val="105000"/>
              </a:lnSpc>
              <a:spcAft>
                <a:spcPts val="1200"/>
              </a:spcAft>
              <a:buClr>
                <a:srgbClr val="E8A33D"/>
              </a:buClr>
              <a:buFont typeface="Arial"/>
              <a:buChar char="•"/>
            </a:pPr>
            <a:r>
              <a:rPr sz="1900" b="1">
                <a:solidFill>
                  <a:srgbClr val="1F2933"/>
                </a:solidFill>
                <a:latin typeface="Calibri"/>
              </a:rPr>
              <a:t>Our aim:</a:t>
            </a:r>
            <a:r>
              <a:rPr sz="1900" b="0">
                <a:solidFill>
                  <a:srgbClr val="1F2933"/>
                </a:solidFill>
                <a:latin typeface="Calibri"/>
              </a:rPr>
              <a:t> reproduce the paper methods on a public benchmark, add strong baselines and Legal-BERT, report honestly</a:t>
            </a:r>
          </a:p>
        </p:txBody>
      </p:sp>
      <p:sp>
        <p:nvSpPr>
          <p:cNvPr id="7" name="Rounded Rectangle 6"/>
          <p:cNvSpPr/>
          <p:nvPr/>
        </p:nvSpPr>
        <p:spPr>
          <a:xfrm>
            <a:off x="6812280" y="1463040"/>
            <a:ext cx="2377440" cy="530352"/>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Criminal Procedure</a:t>
            </a:r>
          </a:p>
        </p:txBody>
      </p:sp>
      <p:sp>
        <p:nvSpPr>
          <p:cNvPr id="8" name="Rounded Rectangle 7"/>
          <p:cNvSpPr/>
          <p:nvPr/>
        </p:nvSpPr>
        <p:spPr>
          <a:xfrm>
            <a:off x="9326880" y="1463040"/>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Civil Rights</a:t>
            </a:r>
          </a:p>
        </p:txBody>
      </p:sp>
      <p:sp>
        <p:nvSpPr>
          <p:cNvPr id="9" name="Rounded Rectangle 8"/>
          <p:cNvSpPr/>
          <p:nvPr/>
        </p:nvSpPr>
        <p:spPr>
          <a:xfrm>
            <a:off x="6812280" y="2121408"/>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First Amendment</a:t>
            </a:r>
          </a:p>
        </p:txBody>
      </p:sp>
      <p:sp>
        <p:nvSpPr>
          <p:cNvPr id="10" name="Rounded Rectangle 9"/>
          <p:cNvSpPr/>
          <p:nvPr/>
        </p:nvSpPr>
        <p:spPr>
          <a:xfrm>
            <a:off x="9326880" y="2121408"/>
            <a:ext cx="2377440" cy="530352"/>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Due Process</a:t>
            </a:r>
          </a:p>
        </p:txBody>
      </p:sp>
      <p:sp>
        <p:nvSpPr>
          <p:cNvPr id="11" name="Rounded Rectangle 10"/>
          <p:cNvSpPr/>
          <p:nvPr/>
        </p:nvSpPr>
        <p:spPr>
          <a:xfrm>
            <a:off x="6812280" y="2779776"/>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Privacy</a:t>
            </a:r>
          </a:p>
        </p:txBody>
      </p:sp>
      <p:sp>
        <p:nvSpPr>
          <p:cNvPr id="12" name="Rounded Rectangle 11"/>
          <p:cNvSpPr/>
          <p:nvPr/>
        </p:nvSpPr>
        <p:spPr>
          <a:xfrm>
            <a:off x="9326880" y="2779776"/>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Attorneys</a:t>
            </a:r>
          </a:p>
        </p:txBody>
      </p:sp>
      <p:sp>
        <p:nvSpPr>
          <p:cNvPr id="13" name="Rounded Rectangle 12"/>
          <p:cNvSpPr/>
          <p:nvPr/>
        </p:nvSpPr>
        <p:spPr>
          <a:xfrm>
            <a:off x="6812280" y="3438144"/>
            <a:ext cx="2377440" cy="530352"/>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Unions</a:t>
            </a:r>
          </a:p>
        </p:txBody>
      </p:sp>
      <p:sp>
        <p:nvSpPr>
          <p:cNvPr id="14" name="Rounded Rectangle 13"/>
          <p:cNvSpPr/>
          <p:nvPr/>
        </p:nvSpPr>
        <p:spPr>
          <a:xfrm>
            <a:off x="9326880" y="3438144"/>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Economic Activity</a:t>
            </a:r>
          </a:p>
        </p:txBody>
      </p:sp>
      <p:sp>
        <p:nvSpPr>
          <p:cNvPr id="15" name="Rounded Rectangle 14"/>
          <p:cNvSpPr/>
          <p:nvPr/>
        </p:nvSpPr>
        <p:spPr>
          <a:xfrm>
            <a:off x="6812280" y="4096512"/>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Judicial Power</a:t>
            </a:r>
          </a:p>
        </p:txBody>
      </p:sp>
      <p:sp>
        <p:nvSpPr>
          <p:cNvPr id="16" name="Rounded Rectangle 15"/>
          <p:cNvSpPr/>
          <p:nvPr/>
        </p:nvSpPr>
        <p:spPr>
          <a:xfrm>
            <a:off x="9326880" y="4096512"/>
            <a:ext cx="2377440" cy="530352"/>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Federalism</a:t>
            </a:r>
          </a:p>
        </p:txBody>
      </p:sp>
      <p:sp>
        <p:nvSpPr>
          <p:cNvPr id="17" name="Rounded Rectangle 16"/>
          <p:cNvSpPr/>
          <p:nvPr/>
        </p:nvSpPr>
        <p:spPr>
          <a:xfrm>
            <a:off x="6812280" y="4754879"/>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Interstate Relations</a:t>
            </a:r>
          </a:p>
        </p:txBody>
      </p:sp>
      <p:sp>
        <p:nvSpPr>
          <p:cNvPr id="18" name="Rounded Rectangle 17"/>
          <p:cNvSpPr/>
          <p:nvPr/>
        </p:nvSpPr>
        <p:spPr>
          <a:xfrm>
            <a:off x="9326880" y="4754879"/>
            <a:ext cx="2377440" cy="530352"/>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Federal Taxation</a:t>
            </a:r>
          </a:p>
        </p:txBody>
      </p:sp>
      <p:sp>
        <p:nvSpPr>
          <p:cNvPr id="19" name="Rounded Rectangle 18"/>
          <p:cNvSpPr/>
          <p:nvPr/>
        </p:nvSpPr>
        <p:spPr>
          <a:xfrm>
            <a:off x="6812280" y="5413248"/>
            <a:ext cx="2377440" cy="530352"/>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0">
                <a:solidFill>
                  <a:srgbClr val="1F2933"/>
                </a:solidFill>
                <a:latin typeface="Calibri"/>
              </a:rPr>
              <a:t>Miscellaneous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Motivation</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3 / 15</a:t>
            </a:r>
          </a:p>
        </p:txBody>
      </p:sp>
      <p:sp>
        <p:nvSpPr>
          <p:cNvPr id="6" name="TextBox 5"/>
          <p:cNvSpPr txBox="1"/>
          <p:nvPr/>
        </p:nvSpPr>
        <p:spPr>
          <a:xfrm>
            <a:off x="548640" y="1417320"/>
            <a:ext cx="10972800" cy="4754880"/>
          </a:xfrm>
          <a:prstGeom prst="rect">
            <a:avLst/>
          </a:prstGeom>
          <a:noFill/>
        </p:spPr>
        <p:txBody>
          <a:bodyPr wrap="square" anchor="t" lIns="45720" rIns="45720">
            <a:spAutoFit/>
          </a:bodyPr>
          <a:lstStyle/>
          <a:p>
            <a:pPr algn="l" marL="274320" indent="-274320">
              <a:lnSpc>
                <a:spcPct val="105000"/>
              </a:lnSpc>
              <a:spcAft>
                <a:spcPts val="1600"/>
              </a:spcAft>
              <a:buClr>
                <a:srgbClr val="E8A33D"/>
              </a:buClr>
              <a:buFont typeface="Arial"/>
              <a:buChar char="•"/>
            </a:pPr>
            <a:r>
              <a:rPr sz="2100" b="0">
                <a:solidFill>
                  <a:srgbClr val="1F2933"/>
                </a:solidFill>
                <a:latin typeface="Calibri"/>
              </a:rPr>
              <a:t>Case law has to be catalogued by subject before it can be searched; doing it by hand is slow</a:t>
            </a:r>
          </a:p>
          <a:p>
            <a:pPr algn="l" marL="274320" indent="-274320">
              <a:lnSpc>
                <a:spcPct val="105000"/>
              </a:lnSpc>
              <a:spcAft>
                <a:spcPts val="1600"/>
              </a:spcAft>
              <a:buClr>
                <a:srgbClr val="E8A33D"/>
              </a:buClr>
              <a:buFont typeface="Arial"/>
              <a:buChar char="•"/>
            </a:pPr>
            <a:r>
              <a:rPr sz="2100" b="0">
                <a:solidFill>
                  <a:srgbClr val="1F2933"/>
                </a:solidFill>
                <a:latin typeface="Calibri"/>
              </a:rPr>
              <a:t>Legal text is hard for NLP: long, citation-heavy, procedural boilerplate, domain vocabulary</a:t>
            </a:r>
          </a:p>
          <a:p>
            <a:pPr algn="l" marL="274320" indent="-274320">
              <a:lnSpc>
                <a:spcPct val="105000"/>
              </a:lnSpc>
              <a:spcAft>
                <a:spcPts val="1600"/>
              </a:spcAft>
              <a:buClr>
                <a:srgbClr val="E8A33D"/>
              </a:buClr>
              <a:buFont typeface="Arial"/>
              <a:buChar char="•"/>
            </a:pPr>
            <a:r>
              <a:rPr sz="2100" b="0">
                <a:solidFill>
                  <a:srgbClr val="1F2933"/>
                </a:solidFill>
                <a:latin typeface="Calibri"/>
              </a:rPr>
              <a:t>Practical question: </a:t>
            </a:r>
            <a:r>
              <a:rPr sz="2100" b="1">
                <a:solidFill>
                  <a:srgbClr val="1F2933"/>
                </a:solidFill>
                <a:latin typeface="Calibri"/>
              </a:rPr>
              <a:t>whole document with a simple model</a:t>
            </a:r>
            <a:r>
              <a:rPr sz="2100" b="0">
                <a:solidFill>
                  <a:srgbClr val="1F2933"/>
                </a:solidFill>
                <a:latin typeface="Calibri"/>
              </a:rPr>
              <a:t> or </a:t>
            </a:r>
            <a:r>
              <a:rPr sz="2100" b="1">
                <a:solidFill>
                  <a:srgbClr val="1F2933"/>
                </a:solidFill>
                <a:latin typeface="Calibri"/>
              </a:rPr>
              <a:t>only the opening with a pretrained Transformer</a:t>
            </a:r>
            <a:r>
              <a:rPr sz="2100" b="0">
                <a:solidFill>
                  <a:srgbClr val="1F2933"/>
                </a:solidFill>
                <a:latin typeface="Calibri"/>
              </a:rPr>
              <a:t>?</a:t>
            </a:r>
          </a:p>
          <a:p>
            <a:pPr algn="l" marL="274320" indent="-274320">
              <a:lnSpc>
                <a:spcPct val="105000"/>
              </a:lnSpc>
              <a:spcAft>
                <a:spcPts val="1600"/>
              </a:spcAft>
              <a:buClr>
                <a:srgbClr val="E8A33D"/>
              </a:buClr>
              <a:buFont typeface="Arial"/>
              <a:buChar char="•"/>
            </a:pPr>
            <a:r>
              <a:rPr sz="2100" b="0">
                <a:solidFill>
                  <a:srgbClr val="1F2933"/>
                </a:solidFill>
                <a:latin typeface="Calibri"/>
              </a:rPr>
              <a:t>Rare issue areas matter as much as common ones, so we use </a:t>
            </a:r>
            <a:r>
              <a:rPr sz="2100" b="1">
                <a:solidFill>
                  <a:srgbClr val="1F2933"/>
                </a:solidFill>
                <a:latin typeface="Calibri"/>
              </a:rPr>
              <a:t>macro F1</a:t>
            </a:r>
            <a:r>
              <a:rPr sz="2100" b="0">
                <a:solidFill>
                  <a:srgbClr val="1F2933"/>
                </a:solidFill>
                <a:latin typeface="Calibri"/>
              </a:rPr>
              <a:t> as the primary metric</a:t>
            </a:r>
          </a:p>
          <a:p>
            <a:pPr algn="l" marL="274320" indent="-274320">
              <a:lnSpc>
                <a:spcPct val="105000"/>
              </a:lnSpc>
              <a:spcAft>
                <a:spcPts val="1600"/>
              </a:spcAft>
              <a:buClr>
                <a:srgbClr val="E8A33D"/>
              </a:buClr>
              <a:buFont typeface="Arial"/>
              <a:buChar char="•"/>
            </a:pPr>
            <a:r>
              <a:rPr sz="2100" b="0">
                <a:solidFill>
                  <a:srgbClr val="1F2933"/>
                </a:solidFill>
                <a:latin typeface="Calibri"/>
              </a:rPr>
              <a:t>Reproducibility matters: fixed public splits, saved predictions, generated reports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Dataset: LexGLUE SCOTUS</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4 / 15</a:t>
            </a:r>
          </a:p>
        </p:txBody>
      </p:sp>
      <p:sp>
        <p:nvSpPr>
          <p:cNvPr id="6" name="TextBox 5"/>
          <p:cNvSpPr txBox="1"/>
          <p:nvPr/>
        </p:nvSpPr>
        <p:spPr>
          <a:xfrm>
            <a:off x="548640" y="1417320"/>
            <a:ext cx="4572000" cy="4754880"/>
          </a:xfrm>
          <a:prstGeom prst="rect">
            <a:avLst/>
          </a:prstGeom>
          <a:noFill/>
        </p:spPr>
        <p:txBody>
          <a:bodyPr wrap="square" anchor="t" lIns="45720" rIns="45720">
            <a:spAutoFit/>
          </a:bodyPr>
          <a:lstStyle/>
          <a:p>
            <a:pPr algn="l" marL="274320" indent="-274320">
              <a:lnSpc>
                <a:spcPct val="105000"/>
              </a:lnSpc>
              <a:spcAft>
                <a:spcPts val="800"/>
              </a:spcAft>
              <a:buClr>
                <a:srgbClr val="E8A33D"/>
              </a:buClr>
              <a:buFont typeface="Arial"/>
              <a:buChar char="•"/>
            </a:pPr>
            <a:r>
              <a:rPr sz="1700" b="0">
                <a:solidFill>
                  <a:srgbClr val="1D4E89"/>
                </a:solidFill>
                <a:latin typeface="Calibri"/>
              </a:rPr>
              <a:t>coastalcph/lex_glue</a:t>
            </a:r>
            <a:r>
              <a:rPr sz="1700" b="0">
                <a:solidFill>
                  <a:srgbClr val="1F2933"/>
                </a:solidFill>
                <a:latin typeface="Calibri"/>
              </a:rPr>
              <a:t>, config </a:t>
            </a:r>
            <a:r>
              <a:rPr sz="1700" b="0">
                <a:solidFill>
                  <a:srgbClr val="1D4E89"/>
                </a:solidFill>
                <a:latin typeface="Calibri"/>
              </a:rPr>
              <a:t>scotus</a:t>
            </a:r>
            <a:r>
              <a:rPr sz="1700" b="0">
                <a:solidFill>
                  <a:srgbClr val="1F2933"/>
                </a:solidFill>
                <a:latin typeface="Calibri"/>
              </a:rPr>
              <a:t>; SCDB labels</a:t>
            </a:r>
          </a:p>
          <a:p>
            <a:pPr algn="l" marL="274320" indent="-274320">
              <a:lnSpc>
                <a:spcPct val="105000"/>
              </a:lnSpc>
              <a:spcAft>
                <a:spcPts val="800"/>
              </a:spcAft>
              <a:buClr>
                <a:srgbClr val="E8A33D"/>
              </a:buClr>
              <a:buFont typeface="Arial"/>
              <a:buChar char="•"/>
            </a:pPr>
            <a:r>
              <a:rPr sz="1700" b="0">
                <a:solidFill>
                  <a:srgbClr val="1F2933"/>
                </a:solidFill>
                <a:latin typeface="Calibri"/>
              </a:rPr>
              <a:t>7,800 opinions, official </a:t>
            </a:r>
            <a:r>
              <a:rPr sz="1700" b="1">
                <a:solidFill>
                  <a:srgbClr val="1F2933"/>
                </a:solidFill>
                <a:latin typeface="Calibri"/>
              </a:rPr>
              <a:t>chronological</a:t>
            </a:r>
            <a:r>
              <a:rPr sz="1700" b="0">
                <a:solidFill>
                  <a:srgbClr val="1F2933"/>
                </a:solidFill>
                <a:latin typeface="Calibri"/>
              </a:rPr>
              <a:t> splits</a:t>
            </a:r>
          </a:p>
          <a:p>
            <a:pPr algn="l" marL="548640" indent="-274320">
              <a:lnSpc>
                <a:spcPct val="105000"/>
              </a:lnSpc>
              <a:spcAft>
                <a:spcPts val="800"/>
              </a:spcAft>
              <a:buClr>
                <a:srgbClr val="52606D"/>
              </a:buClr>
              <a:buFont typeface="Arial"/>
              <a:buChar char="–"/>
            </a:pPr>
            <a:r>
              <a:rPr sz="1500" b="0">
                <a:solidFill>
                  <a:srgbClr val="1F2933"/>
                </a:solidFill>
                <a:latin typeface="Calibri"/>
              </a:rPr>
              <a:t>train 5,000 (1946–1982)</a:t>
            </a:r>
          </a:p>
          <a:p>
            <a:pPr algn="l" marL="548640" indent="-274320">
              <a:lnSpc>
                <a:spcPct val="105000"/>
              </a:lnSpc>
              <a:spcAft>
                <a:spcPts val="800"/>
              </a:spcAft>
              <a:buClr>
                <a:srgbClr val="52606D"/>
              </a:buClr>
              <a:buFont typeface="Arial"/>
              <a:buChar char="–"/>
            </a:pPr>
            <a:r>
              <a:rPr sz="1500" b="0">
                <a:solidFill>
                  <a:srgbClr val="1F2933"/>
                </a:solidFill>
                <a:latin typeface="Calibri"/>
              </a:rPr>
              <a:t>validation 1,400 (1982–1991)</a:t>
            </a:r>
          </a:p>
          <a:p>
            <a:pPr algn="l" marL="548640" indent="-274320">
              <a:lnSpc>
                <a:spcPct val="105000"/>
              </a:lnSpc>
              <a:spcAft>
                <a:spcPts val="800"/>
              </a:spcAft>
              <a:buClr>
                <a:srgbClr val="52606D"/>
              </a:buClr>
              <a:buFont typeface="Arial"/>
              <a:buChar char="–"/>
            </a:pPr>
            <a:r>
              <a:rPr sz="1500" b="0">
                <a:solidFill>
                  <a:srgbClr val="1F2933"/>
                </a:solidFill>
                <a:latin typeface="Calibri"/>
              </a:rPr>
              <a:t>test 1,400 (1991–2016)</a:t>
            </a:r>
          </a:p>
          <a:p>
            <a:pPr algn="l" marL="274320" indent="-274320">
              <a:lnSpc>
                <a:spcPct val="105000"/>
              </a:lnSpc>
              <a:spcAft>
                <a:spcPts val="800"/>
              </a:spcAft>
              <a:buClr>
                <a:srgbClr val="E8A33D"/>
              </a:buClr>
              <a:buFont typeface="Arial"/>
              <a:buChar char="•"/>
            </a:pPr>
            <a:r>
              <a:rPr sz="1700" b="0">
                <a:solidFill>
                  <a:srgbClr val="1F2933"/>
                </a:solidFill>
                <a:latin typeface="Calibri"/>
              </a:rPr>
              <a:t>No empty texts, no duplicates (SHA-256)</a:t>
            </a:r>
          </a:p>
          <a:p>
            <a:pPr algn="l" marL="274320" indent="-274320">
              <a:lnSpc>
                <a:spcPct val="105000"/>
              </a:lnSpc>
              <a:spcAft>
                <a:spcPts val="800"/>
              </a:spcAft>
              <a:buClr>
                <a:srgbClr val="E8A33D"/>
              </a:buClr>
              <a:buFont typeface="Arial"/>
              <a:buChar char="•"/>
            </a:pPr>
            <a:r>
              <a:rPr sz="1700" b="0">
                <a:solidFill>
                  <a:srgbClr val="1F2933"/>
                </a:solidFill>
                <a:latin typeface="Calibri"/>
              </a:rPr>
              <a:t>Imbalance </a:t>
            </a:r>
            <a:r>
              <a:rPr sz="1700" b="1">
                <a:solidFill>
                  <a:srgbClr val="1F2933"/>
                </a:solidFill>
                <a:latin typeface="Calibri"/>
              </a:rPr>
              <a:t>347.7 : 1</a:t>
            </a:r>
            <a:r>
              <a:rPr sz="1700" b="0">
                <a:solidFill>
                  <a:srgbClr val="1F2933"/>
                </a:solidFill>
                <a:latin typeface="Calibri"/>
              </a:rPr>
              <a:t> (Economic Activity vs Miscellaneous)</a:t>
            </a:r>
          </a:p>
          <a:p>
            <a:pPr algn="l" marL="274320" indent="-274320">
              <a:lnSpc>
                <a:spcPct val="105000"/>
              </a:lnSpc>
              <a:spcAft>
                <a:spcPts val="800"/>
              </a:spcAft>
              <a:buClr>
                <a:srgbClr val="E8A33D"/>
              </a:buClr>
              <a:buFont typeface="Arial"/>
              <a:buChar char="•"/>
            </a:pPr>
            <a:r>
              <a:rPr sz="1700" b="0">
                <a:solidFill>
                  <a:srgbClr val="1F2933"/>
                </a:solidFill>
                <a:latin typeface="Calibri"/>
              </a:rPr>
              <a:t>Rarest test classes: Miscellaneous (3), Interstate Relations (15), Attorneys (17)</a:t>
            </a:r>
          </a:p>
        </p:txBody>
      </p:sp>
      <p:pic>
        <p:nvPicPr>
          <p:cNvPr id="7" name="Picture 6" descr="class_distribution.png"/>
          <p:cNvPicPr>
            <a:picLocks noChangeAspect="1"/>
          </p:cNvPicPr>
          <p:nvPr/>
        </p:nvPicPr>
        <p:blipFill>
          <a:blip r:embed="rId3"/>
          <a:stretch>
            <a:fillRect/>
          </a:stretch>
        </p:blipFill>
        <p:spPr>
          <a:xfrm>
            <a:off x="5212080" y="2148840"/>
            <a:ext cx="6583680" cy="32918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Pipeline</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5 / 15</a:t>
            </a:r>
          </a:p>
        </p:txBody>
      </p:sp>
      <p:sp>
        <p:nvSpPr>
          <p:cNvPr id="6" name="Rounded Rectangle 5"/>
          <p:cNvSpPr/>
          <p:nvPr/>
        </p:nvSpPr>
        <p:spPr>
          <a:xfrm>
            <a:off x="411480" y="2788920"/>
            <a:ext cx="1783080" cy="146304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933"/>
                </a:solidFill>
                <a:latin typeface="Calibri"/>
              </a:rPr>
              <a:t>LexGLUE SCOTUS</a:t>
            </a:r>
          </a:p>
          <a:p>
            <a:pPr algn="ctr"/>
            <a:r>
              <a:rPr sz="1300" b="0">
                <a:solidFill>
                  <a:srgbClr val="1F2933"/>
                </a:solidFill>
                <a:latin typeface="Calibri"/>
              </a:rPr>
              <a:t>5,000 / 1,400 / 1,400</a:t>
            </a:r>
          </a:p>
          <a:p>
            <a:pPr algn="ctr"/>
            <a:r>
              <a:rPr sz="1300" b="0">
                <a:solidFill>
                  <a:srgbClr val="1F2933"/>
                </a:solidFill>
                <a:latin typeface="Calibri"/>
              </a:rPr>
              <a:t>train / val / test</a:t>
            </a:r>
          </a:p>
        </p:txBody>
      </p:sp>
      <p:sp>
        <p:nvSpPr>
          <p:cNvPr id="7" name="Right Arrow 6"/>
          <p:cNvSpPr/>
          <p:nvPr/>
        </p:nvSpPr>
        <p:spPr>
          <a:xfrm>
            <a:off x="2267712" y="3383280"/>
            <a:ext cx="384048"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724912" y="2788920"/>
            <a:ext cx="1783080" cy="146304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1F2933"/>
                </a:solidFill>
                <a:latin typeface="Calibri"/>
              </a:rPr>
              <a:t>Normalise</a:t>
            </a:r>
          </a:p>
          <a:p>
            <a:pPr algn="ctr"/>
            <a:r>
              <a:rPr sz="1300" b="0">
                <a:solidFill>
                  <a:srgbClr val="1F2933"/>
                </a:solidFill>
                <a:latin typeface="Calibri"/>
              </a:rPr>
              <a:t>numbers out, legal</a:t>
            </a:r>
          </a:p>
          <a:p>
            <a:pPr algn="ctr"/>
            <a:r>
              <a:rPr sz="1300" b="0">
                <a:solidFill>
                  <a:srgbClr val="1F2933"/>
                </a:solidFill>
                <a:latin typeface="Calibri"/>
              </a:rPr>
              <a:t>stop-word list</a:t>
            </a:r>
          </a:p>
        </p:txBody>
      </p:sp>
      <p:sp>
        <p:nvSpPr>
          <p:cNvPr id="9" name="Right Arrow 8"/>
          <p:cNvSpPr/>
          <p:nvPr/>
        </p:nvSpPr>
        <p:spPr>
          <a:xfrm>
            <a:off x="4581144" y="3383280"/>
            <a:ext cx="384048"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600200"/>
            <a:ext cx="2240280" cy="658368"/>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2933"/>
                </a:solidFill>
                <a:latin typeface="Calibri"/>
              </a:rPr>
              <a:t>TF-IDF (1–2-grams)</a:t>
            </a:r>
          </a:p>
        </p:txBody>
      </p:sp>
      <p:sp>
        <p:nvSpPr>
          <p:cNvPr id="11" name="Right Arrow 10"/>
          <p:cNvSpPr/>
          <p:nvPr/>
        </p:nvSpPr>
        <p:spPr>
          <a:xfrm>
            <a:off x="7333488" y="1792224"/>
            <a:ext cx="329184"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26679" y="1600200"/>
            <a:ext cx="2057400" cy="658368"/>
          </a:xfrm>
          <a:prstGeom prst="roundRect">
            <a:avLst>
              <a:gd name="adj" fmla="val 1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LinearSVC · LR (SGD)</a:t>
            </a:r>
          </a:p>
        </p:txBody>
      </p:sp>
      <p:sp>
        <p:nvSpPr>
          <p:cNvPr id="13" name="Rounded Rectangle 12"/>
          <p:cNvSpPr/>
          <p:nvPr/>
        </p:nvSpPr>
        <p:spPr>
          <a:xfrm>
            <a:off x="5029200" y="2468880"/>
            <a:ext cx="2240280" cy="658368"/>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2933"/>
                </a:solidFill>
                <a:latin typeface="Calibri"/>
              </a:rPr>
              <a:t>Counts → LDA</a:t>
            </a:r>
          </a:p>
        </p:txBody>
      </p:sp>
      <p:sp>
        <p:nvSpPr>
          <p:cNvPr id="14" name="Right Arrow 13"/>
          <p:cNvSpPr/>
          <p:nvPr/>
        </p:nvSpPr>
        <p:spPr>
          <a:xfrm>
            <a:off x="7333488" y="2660904"/>
            <a:ext cx="329184"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26679" y="2468880"/>
            <a:ext cx="2057400" cy="658368"/>
          </a:xfrm>
          <a:prstGeom prst="roundRect">
            <a:avLst>
              <a:gd name="adj" fmla="val 1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Logistic regression</a:t>
            </a:r>
          </a:p>
        </p:txBody>
      </p:sp>
      <p:sp>
        <p:nvSpPr>
          <p:cNvPr id="16" name="Rounded Rectangle 15"/>
          <p:cNvSpPr/>
          <p:nvPr/>
        </p:nvSpPr>
        <p:spPr>
          <a:xfrm>
            <a:off x="5029200" y="3337560"/>
            <a:ext cx="2240280" cy="658368"/>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2933"/>
                </a:solidFill>
                <a:latin typeface="Calibri"/>
              </a:rPr>
              <a:t>Doc2Vec (PV-DM)</a:t>
            </a:r>
          </a:p>
        </p:txBody>
      </p:sp>
      <p:sp>
        <p:nvSpPr>
          <p:cNvPr id="17" name="Right Arrow 16"/>
          <p:cNvSpPr/>
          <p:nvPr/>
        </p:nvSpPr>
        <p:spPr>
          <a:xfrm>
            <a:off x="7333488" y="3529584"/>
            <a:ext cx="329184"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26679" y="3337560"/>
            <a:ext cx="2057400" cy="658368"/>
          </a:xfrm>
          <a:prstGeom prst="roundRect">
            <a:avLst>
              <a:gd name="adj" fmla="val 1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Logistic regression</a:t>
            </a:r>
          </a:p>
        </p:txBody>
      </p:sp>
      <p:sp>
        <p:nvSpPr>
          <p:cNvPr id="19" name="Rounded Rectangle 18"/>
          <p:cNvSpPr/>
          <p:nvPr/>
        </p:nvSpPr>
        <p:spPr>
          <a:xfrm>
            <a:off x="5029200" y="4206239"/>
            <a:ext cx="2240280" cy="658368"/>
          </a:xfrm>
          <a:prstGeom prst="roundRect">
            <a:avLst>
              <a:gd name="adj" fmla="val 12000"/>
            </a:avLst>
          </a:prstGeom>
          <a:solidFill>
            <a:srgbClr val="DCE7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2933"/>
                </a:solidFill>
                <a:latin typeface="Calibri"/>
              </a:rPr>
              <a:t>Word pieces (≤ 512)</a:t>
            </a:r>
          </a:p>
        </p:txBody>
      </p:sp>
      <p:sp>
        <p:nvSpPr>
          <p:cNvPr id="20" name="Right Arrow 19"/>
          <p:cNvSpPr/>
          <p:nvPr/>
        </p:nvSpPr>
        <p:spPr>
          <a:xfrm>
            <a:off x="7333488" y="4398263"/>
            <a:ext cx="329184"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26679" y="4206239"/>
            <a:ext cx="2057400" cy="658368"/>
          </a:xfrm>
          <a:prstGeom prst="roundRect">
            <a:avLst>
              <a:gd name="adj" fmla="val 1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Legal-BERT fine-tune</a:t>
            </a:r>
          </a:p>
        </p:txBody>
      </p:sp>
      <p:sp>
        <p:nvSpPr>
          <p:cNvPr id="22" name="Right Arrow 21"/>
          <p:cNvSpPr/>
          <p:nvPr/>
        </p:nvSpPr>
        <p:spPr>
          <a:xfrm>
            <a:off x="9848088" y="3383280"/>
            <a:ext cx="384048" cy="27432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287000" y="2240280"/>
            <a:ext cx="1600200" cy="2560320"/>
          </a:xfrm>
          <a:prstGeom prst="roundRect">
            <a:avLst>
              <a:gd name="adj" fmla="val 12000"/>
            </a:avLst>
          </a:prstGeom>
          <a:solidFill>
            <a:srgbClr val="FBEB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F2933"/>
                </a:solidFill>
                <a:latin typeface="Calibri"/>
              </a:rPr>
              <a:t>Saved predictions</a:t>
            </a:r>
          </a:p>
          <a:p>
            <a:pPr algn="ctr"/>
            <a:r>
              <a:rPr sz="1200" b="0">
                <a:solidFill>
                  <a:srgbClr val="1F2933"/>
                </a:solidFill>
                <a:latin typeface="Calibri"/>
              </a:rPr>
              <a:t>evaluate_all.py</a:t>
            </a:r>
          </a:p>
          <a:p>
            <a:pPr algn="ctr"/>
            <a:r>
              <a:rPr sz="1200" b="0">
                <a:solidFill>
                  <a:srgbClr val="1F2933"/>
                </a:solidFill>
                <a:latin typeface="Calibri"/>
              </a:rPr>
              <a:t>metrics · CIs</a:t>
            </a:r>
          </a:p>
          <a:p>
            <a:pPr algn="ctr"/>
            <a:r>
              <a:rPr sz="1200" b="0">
                <a:solidFill>
                  <a:srgbClr val="1F2933"/>
                </a:solidFill>
                <a:latin typeface="Calibri"/>
              </a:rPr>
              <a:t>confusion · errors</a:t>
            </a:r>
          </a:p>
          <a:p>
            <a:pPr algn="ctr"/>
            <a:r>
              <a:rPr sz="1200" b="0">
                <a:solidFill>
                  <a:srgbClr val="1F2933"/>
                </a:solidFill>
                <a:latin typeface="Calibri"/>
              </a:rPr>
              <a:t>README · PDF</a:t>
            </a:r>
          </a:p>
          <a:p>
            <a:pPr algn="ctr"/>
            <a:r>
              <a:rPr sz="1200" b="0">
                <a:solidFill>
                  <a:srgbClr val="1F2933"/>
                </a:solidFill>
                <a:latin typeface="Calibri"/>
              </a:rPr>
              <a:t>slides · demo</a:t>
            </a:r>
          </a:p>
        </p:txBody>
      </p:sp>
      <p:sp>
        <p:nvSpPr>
          <p:cNvPr id="24" name="TextBox 23"/>
          <p:cNvSpPr txBox="1"/>
          <p:nvPr/>
        </p:nvSpPr>
        <p:spPr>
          <a:xfrm>
            <a:off x="548640" y="5257800"/>
            <a:ext cx="11155680" cy="822960"/>
          </a:xfrm>
          <a:prstGeom prst="rect">
            <a:avLst/>
          </a:prstGeom>
          <a:noFill/>
        </p:spPr>
        <p:txBody>
          <a:bodyPr wrap="square" anchor="t" lIns="45720" rIns="45720">
            <a:spAutoFit/>
          </a:bodyPr>
          <a:lstStyle/>
          <a:p>
            <a:pPr algn="ctr">
              <a:lnSpc>
                <a:spcPct val="105000"/>
              </a:lnSpc>
              <a:spcAft>
                <a:spcPts val="800"/>
              </a:spcAft>
            </a:pPr>
            <a:r>
              <a:rPr sz="1600" b="0">
                <a:solidFill>
                  <a:srgbClr val="52606D"/>
                </a:solidFill>
                <a:latin typeface="Calibri"/>
              </a:rPr>
              <a:t>Fit on </a:t>
            </a:r>
            <a:r>
              <a:rPr sz="1600" b="1">
                <a:solidFill>
                  <a:srgbClr val="52606D"/>
                </a:solidFill>
                <a:latin typeface="Calibri"/>
              </a:rPr>
              <a:t>train</a:t>
            </a:r>
            <a:r>
              <a:rPr sz="1600" b="0">
                <a:solidFill>
                  <a:srgbClr val="52606D"/>
                </a:solidFill>
                <a:latin typeface="Calibri"/>
              </a:rPr>
              <a:t> only  ·  tune on </a:t>
            </a:r>
            <a:r>
              <a:rPr sz="1600" b="1">
                <a:solidFill>
                  <a:srgbClr val="52606D"/>
                </a:solidFill>
                <a:latin typeface="Calibri"/>
              </a:rPr>
              <a:t>validation</a:t>
            </a:r>
            <a:r>
              <a:rPr sz="1600" b="0">
                <a:solidFill>
                  <a:srgbClr val="52606D"/>
                </a:solidFill>
                <a:latin typeface="Calibri"/>
              </a:rPr>
              <a:t> only  ·  </a:t>
            </a:r>
            <a:r>
              <a:rPr sz="1600" b="1">
                <a:solidFill>
                  <a:srgbClr val="52606D"/>
                </a:solidFill>
                <a:latin typeface="Calibri"/>
              </a:rPr>
              <a:t>test</a:t>
            </a:r>
            <a:r>
              <a:rPr sz="1600" b="0">
                <a:solidFill>
                  <a:srgbClr val="52606D"/>
                </a:solidFill>
                <a:latin typeface="Calibri"/>
              </a:rPr>
              <a:t> predicted once per model  ·  seed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Preprocessing</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6 / 15</a:t>
            </a:r>
          </a:p>
        </p:txBody>
      </p:sp>
      <p:sp>
        <p:nvSpPr>
          <p:cNvPr id="6" name="TextBox 5"/>
          <p:cNvSpPr txBox="1"/>
          <p:nvPr/>
        </p:nvSpPr>
        <p:spPr>
          <a:xfrm>
            <a:off x="548640" y="1417320"/>
            <a:ext cx="5760720" cy="4754880"/>
          </a:xfrm>
          <a:prstGeom prst="rect">
            <a:avLst/>
          </a:prstGeom>
          <a:noFill/>
        </p:spPr>
        <p:txBody>
          <a:bodyPr wrap="square" anchor="t" lIns="45720" rIns="45720">
            <a:spAutoFit/>
          </a:bodyPr>
          <a:lstStyle/>
          <a:p>
            <a:pPr algn="l" marL="274320" indent="-274320">
              <a:lnSpc>
                <a:spcPct val="105000"/>
              </a:lnSpc>
              <a:spcAft>
                <a:spcPts val="1200"/>
              </a:spcAft>
              <a:buClr>
                <a:srgbClr val="E8A33D"/>
              </a:buClr>
              <a:buFont typeface="Arial"/>
              <a:buChar char="•"/>
            </a:pPr>
            <a:r>
              <a:rPr sz="1800" b="0">
                <a:solidFill>
                  <a:srgbClr val="1F2933"/>
                </a:solidFill>
                <a:latin typeface="Calibri"/>
              </a:rPr>
              <a:t>Unicode NFKC, lower case, collapse whitespace</a:t>
            </a:r>
          </a:p>
          <a:p>
            <a:pPr algn="l" marL="274320" indent="-274320">
              <a:lnSpc>
                <a:spcPct val="105000"/>
              </a:lnSpc>
              <a:spcAft>
                <a:spcPts val="1200"/>
              </a:spcAft>
              <a:buClr>
                <a:srgbClr val="E8A33D"/>
              </a:buClr>
              <a:buFont typeface="Arial"/>
              <a:buChar char="•"/>
            </a:pPr>
            <a:r>
              <a:rPr sz="1800" b="0">
                <a:solidFill>
                  <a:srgbClr val="1F2933"/>
                </a:solidFill>
                <a:latin typeface="Calibri"/>
              </a:rPr>
              <a:t>Delete standalone numbers (citations, docket numbers, years identify the era, not the topic); keep </a:t>
            </a:r>
            <a:r>
              <a:rPr sz="1800" b="0">
                <a:solidFill>
                  <a:srgbClr val="1D4E89"/>
                </a:solidFill>
                <a:latin typeface="Calibri"/>
              </a:rPr>
              <a:t>12th</a:t>
            </a:r>
            <a:r>
              <a:rPr sz="1800" b="0">
                <a:solidFill>
                  <a:srgbClr val="1F2933"/>
                </a:solidFill>
                <a:latin typeface="Calibri"/>
              </a:rPr>
              <a:t>, </a:t>
            </a:r>
            <a:r>
              <a:rPr sz="1800" b="0">
                <a:solidFill>
                  <a:srgbClr val="1D4E89"/>
                </a:solidFill>
                <a:latin typeface="Calibri"/>
              </a:rPr>
              <a:t>1st</a:t>
            </a:r>
          </a:p>
          <a:p>
            <a:pPr algn="l" marL="274320" indent="-274320">
              <a:lnSpc>
                <a:spcPct val="105000"/>
              </a:lnSpc>
              <a:spcAft>
                <a:spcPts val="1200"/>
              </a:spcAft>
              <a:buClr>
                <a:srgbClr val="E8A33D"/>
              </a:buClr>
              <a:buFont typeface="Arial"/>
              <a:buChar char="•"/>
            </a:pPr>
            <a:r>
              <a:rPr sz="1800" b="0">
                <a:solidFill>
                  <a:srgbClr val="1F2933"/>
                </a:solidFill>
                <a:latin typeface="Calibri"/>
              </a:rPr>
              <a:t>Stop words: scikit-learn list </a:t>
            </a:r>
            <a:r>
              <a:rPr sz="1800" b="1">
                <a:solidFill>
                  <a:srgbClr val="1F2933"/>
                </a:solidFill>
                <a:latin typeface="Calibri"/>
              </a:rPr>
              <a:t>minus</a:t>
            </a:r>
            <a:r>
              <a:rPr sz="1800" b="0">
                <a:solidFill>
                  <a:srgbClr val="1F2933"/>
                </a:solidFill>
                <a:latin typeface="Calibri"/>
              </a:rPr>
              <a:t> meaning-changing words: not, no, never, shall, may, must, without, unless, …</a:t>
            </a:r>
          </a:p>
          <a:p>
            <a:pPr algn="l" marL="274320" indent="-274320">
              <a:lnSpc>
                <a:spcPct val="105000"/>
              </a:lnSpc>
              <a:spcAft>
                <a:spcPts val="1200"/>
              </a:spcAft>
              <a:buClr>
                <a:srgbClr val="E8A33D"/>
              </a:buClr>
              <a:buFont typeface="Arial"/>
              <a:buChar char="•"/>
            </a:pPr>
            <a:r>
              <a:rPr sz="1800" b="0">
                <a:solidFill>
                  <a:srgbClr val="1F2933"/>
                </a:solidFill>
                <a:latin typeface="Calibri"/>
              </a:rPr>
              <a:t>No stemming or lemmatisation</a:t>
            </a:r>
          </a:p>
          <a:p>
            <a:pPr algn="l" marL="274320" indent="-274320">
              <a:lnSpc>
                <a:spcPct val="105000"/>
              </a:lnSpc>
              <a:spcAft>
                <a:spcPts val="1200"/>
              </a:spcAft>
              <a:buClr>
                <a:srgbClr val="E8A33D"/>
              </a:buClr>
              <a:buFont typeface="Arial"/>
              <a:buChar char="•"/>
            </a:pPr>
            <a:r>
              <a:rPr sz="1800" b="1">
                <a:solidFill>
                  <a:srgbClr val="1F2933"/>
                </a:solidFill>
                <a:latin typeface="Calibri"/>
              </a:rPr>
              <a:t>Leakage control:</a:t>
            </a:r>
            <a:r>
              <a:rPr sz="1800" b="0">
                <a:solidFill>
                  <a:srgbClr val="1F2933"/>
                </a:solidFill>
                <a:latin typeface="Calibri"/>
              </a:rPr>
              <a:t> vectorizers, LDA and Doc2Vec fitted on train only (unit-tested)</a:t>
            </a:r>
          </a:p>
        </p:txBody>
      </p:sp>
      <p:sp>
        <p:nvSpPr>
          <p:cNvPr id="7" name="Rounded Rectangle 6"/>
          <p:cNvSpPr/>
          <p:nvPr/>
        </p:nvSpPr>
        <p:spPr>
          <a:xfrm>
            <a:off x="6583680" y="1554480"/>
            <a:ext cx="5120640" cy="1737360"/>
          </a:xfrm>
          <a:prstGeom prst="roundRect">
            <a:avLst>
              <a:gd name="adj" fmla="val 12000"/>
            </a:avLst>
          </a:prstGeom>
          <a:solidFill>
            <a:srgbClr val="EEF3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933"/>
                </a:solidFill>
                <a:latin typeface="Calibri"/>
              </a:rPr>
              <a:t>Raw opening (train example)</a:t>
            </a:r>
          </a:p>
          <a:p>
            <a:pPr algn="ctr"/>
            <a:r>
              <a:rPr sz="1100" b="0">
                <a:solidFill>
                  <a:srgbClr val="1F2933"/>
                </a:solidFill>
                <a:latin typeface="Calibri"/>
              </a:rPr>
              <a:t>348 U.S. 540 75 S.Ct. 509 99 L.Ed. 624 Louis SHOMBERG, Petitioner,v.UNITED STATES of America. No. 48. Argued March 1, </a:t>
            </a:r>
          </a:p>
        </p:txBody>
      </p:sp>
      <p:sp>
        <p:nvSpPr>
          <p:cNvPr id="8" name="Right Arrow 7"/>
          <p:cNvSpPr/>
          <p:nvPr/>
        </p:nvSpPr>
        <p:spPr>
          <a:xfrm>
            <a:off x="8915400" y="3429000"/>
            <a:ext cx="457200" cy="320040"/>
          </a:xfrm>
          <a:prstGeom prst="rightArrow">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3886200"/>
            <a:ext cx="5120640" cy="1737360"/>
          </a:xfrm>
          <a:prstGeom prst="roundRect">
            <a:avLst>
              <a:gd name="adj" fmla="val 12000"/>
            </a:avLst>
          </a:prstGeom>
          <a:solidFill>
            <a:srgbClr val="FBEB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1F2933"/>
                </a:solidFill>
                <a:latin typeface="Calibri"/>
              </a:rPr>
              <a:t>After normalize_text()</a:t>
            </a:r>
          </a:p>
          <a:p>
            <a:pPr algn="ctr"/>
            <a:r>
              <a:rPr sz="1100" b="0">
                <a:solidFill>
                  <a:srgbClr val="1F2933"/>
                </a:solidFill>
                <a:latin typeface="Calibri"/>
              </a:rPr>
              <a:t>u.s. s.ct. l.ed. louis shomberg, petitioner,v.united states of america. no. . argued march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Classical ML: TF-IDF + linear models</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7 / 15</a:t>
            </a:r>
          </a:p>
        </p:txBody>
      </p:sp>
      <p:sp>
        <p:nvSpPr>
          <p:cNvPr id="6" name="TextBox 5"/>
          <p:cNvSpPr txBox="1"/>
          <p:nvPr/>
        </p:nvSpPr>
        <p:spPr>
          <a:xfrm>
            <a:off x="548640" y="1417320"/>
            <a:ext cx="5852160" cy="4754880"/>
          </a:xfrm>
          <a:prstGeom prst="rect">
            <a:avLst/>
          </a:prstGeom>
          <a:noFill/>
        </p:spPr>
        <p:txBody>
          <a:bodyPr wrap="square" anchor="t" lIns="45720" rIns="45720">
            <a:spAutoFit/>
          </a:bodyPr>
          <a:lstStyle/>
          <a:p>
            <a:pPr algn="l" marL="274320" indent="-274320">
              <a:lnSpc>
                <a:spcPct val="105000"/>
              </a:lnSpc>
              <a:spcAft>
                <a:spcPts val="1200"/>
              </a:spcAft>
              <a:buClr>
                <a:srgbClr val="E8A33D"/>
              </a:buClr>
              <a:buFont typeface="Arial"/>
              <a:buChar char="•"/>
            </a:pPr>
            <a:r>
              <a:rPr sz="1800" b="0">
                <a:solidFill>
                  <a:srgbClr val="1F2933"/>
                </a:solidFill>
                <a:latin typeface="Calibri"/>
              </a:rPr>
              <a:t>TF-IDF: unigrams + bigrams, 10,000 features, sublinear tf, min_df 2, max_df 0.98</a:t>
            </a:r>
          </a:p>
          <a:p>
            <a:pPr algn="l" marL="274320" indent="-274320">
              <a:lnSpc>
                <a:spcPct val="105000"/>
              </a:lnSpc>
              <a:spcAft>
                <a:spcPts val="1200"/>
              </a:spcAft>
              <a:buClr>
                <a:srgbClr val="E8A33D"/>
              </a:buClr>
              <a:buFont typeface="Arial"/>
              <a:buChar char="•"/>
            </a:pPr>
            <a:r>
              <a:rPr sz="1800" b="1">
                <a:solidFill>
                  <a:srgbClr val="1F2933"/>
                </a:solidFill>
                <a:latin typeface="Calibri"/>
              </a:rPr>
              <a:t>LinearSVC:</a:t>
            </a:r>
            <a:r>
              <a:rPr sz="1800" b="0">
                <a:solidFill>
                  <a:srgbClr val="1F2933"/>
                </a:solidFill>
                <a:latin typeface="Calibri"/>
              </a:rPr>
              <a:t> L2, squared hinge; C = 1.0 chosen from 0.01, 0.1, 1.0</a:t>
            </a:r>
          </a:p>
          <a:p>
            <a:pPr algn="l" marL="274320" indent="-274320">
              <a:lnSpc>
                <a:spcPct val="105000"/>
              </a:lnSpc>
              <a:spcAft>
                <a:spcPts val="1200"/>
              </a:spcAft>
              <a:buClr>
                <a:srgbClr val="E8A33D"/>
              </a:buClr>
              <a:buFont typeface="Arial"/>
              <a:buChar char="•"/>
            </a:pPr>
            <a:r>
              <a:rPr sz="1800" b="1">
                <a:solidFill>
                  <a:srgbClr val="1F2933"/>
                </a:solidFill>
                <a:latin typeface="Calibri"/>
              </a:rPr>
              <a:t>Logistic regression:</a:t>
            </a:r>
            <a:r>
              <a:rPr sz="1800" b="0">
                <a:solidFill>
                  <a:srgbClr val="1F2933"/>
                </a:solidFill>
                <a:latin typeface="Calibri"/>
              </a:rPr>
              <a:t> SGD on log loss, L2; alpha = 1e-5 from 1e-6, 1e-5, 1e-4; converged in 9 / 50 epochs</a:t>
            </a:r>
          </a:p>
          <a:p>
            <a:pPr algn="l" marL="274320" indent="-274320">
              <a:lnSpc>
                <a:spcPct val="105000"/>
              </a:lnSpc>
              <a:spcAft>
                <a:spcPts val="1200"/>
              </a:spcAft>
              <a:buClr>
                <a:srgbClr val="E8A33D"/>
              </a:buClr>
              <a:buFont typeface="Arial"/>
              <a:buChar char="•"/>
            </a:pPr>
            <a:r>
              <a:rPr sz="1800" b="0">
                <a:solidFill>
                  <a:srgbClr val="1F2933"/>
                </a:solidFill>
                <a:latin typeface="Calibri"/>
              </a:rPr>
              <a:t>First LR (saga, max_iter 5, tol 0.5) was </a:t>
            </a:r>
            <a:r>
              <a:rPr sz="1800" b="1">
                <a:solidFill>
                  <a:srgbClr val="1F2933"/>
                </a:solidFill>
                <a:latin typeface="Calibri"/>
              </a:rPr>
              <a:t>under-converged</a:t>
            </a:r>
            <a:r>
              <a:rPr sz="1800" b="0">
                <a:solidFill>
                  <a:srgbClr val="1F2933"/>
                </a:solidFill>
                <a:latin typeface="Calibri"/>
              </a:rPr>
              <a:t>: kept only as a reference</a:t>
            </a:r>
          </a:p>
          <a:p>
            <a:pPr algn="l" marL="274320" indent="-274320">
              <a:lnSpc>
                <a:spcPct val="105000"/>
              </a:lnSpc>
              <a:spcAft>
                <a:spcPts val="1200"/>
              </a:spcAft>
              <a:buClr>
                <a:srgbClr val="E8A33D"/>
              </a:buClr>
              <a:buFont typeface="Arial"/>
              <a:buChar char="•"/>
            </a:pPr>
            <a:r>
              <a:rPr sz="1800" b="0">
                <a:solidFill>
                  <a:srgbClr val="1F2933"/>
                </a:solidFill>
                <a:latin typeface="Calibri"/>
              </a:rPr>
              <a:t>All choices made on validation macro F1</a:t>
            </a:r>
          </a:p>
        </p:txBody>
      </p:sp>
      <p:graphicFrame>
        <p:nvGraphicFramePr>
          <p:cNvPr id="7" name="Table 6"/>
          <p:cNvGraphicFramePr>
            <a:graphicFrameLocks noGrp="1"/>
          </p:cNvGraphicFramePr>
          <p:nvPr/>
        </p:nvGraphicFramePr>
        <p:xfrm>
          <a:off x="6720840" y="2011680"/>
          <a:ext cx="5212080" cy="2194560"/>
        </p:xfrm>
        <a:graphic>
          <a:graphicData uri="http://schemas.openxmlformats.org/drawingml/2006/table">
            <a:tbl>
              <a:tblPr firstRow="1" bandRow="1">
                <a:tableStyleId>{5C22544A-7EE6-4342-B048-85BDC9FD1C3A}</a:tableStyleId>
              </a:tblPr>
              <a:tblGrid>
                <a:gridCol w="2651760"/>
                <a:gridCol w="1280160"/>
                <a:gridCol w="1280160"/>
              </a:tblGrid>
              <a:tr h="548640">
                <a:tc>
                  <a:txBody>
                    <a:bodyPr/>
                    <a:lstStyle/>
                    <a:p>
                      <a:pPr algn="l"/>
                      <a:r>
                        <a:rPr sz="1500" b="1">
                          <a:solidFill>
                            <a:srgbClr val="FFFFFF"/>
                          </a:solidFill>
                          <a:latin typeface="Calibri"/>
                        </a:rPr>
                        <a:t>Model</a:t>
                      </a:r>
                    </a:p>
                  </a:txBody>
                  <a:tcPr marL="73152" marR="73152" marT="27432" marB="27432" anchor="ctr">
                    <a:solidFill>
                      <a:srgbClr val="1D4E89"/>
                    </a:solidFill>
                  </a:tcPr>
                </a:tc>
                <a:tc>
                  <a:txBody>
                    <a:bodyPr/>
                    <a:lstStyle/>
                    <a:p>
                      <a:pPr algn="ctr"/>
                      <a:r>
                        <a:rPr sz="1500" b="1">
                          <a:solidFill>
                            <a:srgbClr val="FFFFFF"/>
                          </a:solidFill>
                          <a:latin typeface="Calibri"/>
                        </a:rPr>
                        <a:t>Val macro F1</a:t>
                      </a:r>
                    </a:p>
                  </a:txBody>
                  <a:tcPr marL="73152" marR="73152" marT="27432" marB="27432" anchor="ctr">
                    <a:solidFill>
                      <a:srgbClr val="1D4E89"/>
                    </a:solidFill>
                  </a:tcPr>
                </a:tc>
                <a:tc>
                  <a:txBody>
                    <a:bodyPr/>
                    <a:lstStyle/>
                    <a:p>
                      <a:pPr algn="ctr"/>
                      <a:r>
                        <a:rPr sz="1500" b="1">
                          <a:solidFill>
                            <a:srgbClr val="FFFFFF"/>
                          </a:solidFill>
                          <a:latin typeface="Calibri"/>
                        </a:rPr>
                        <a:t>Test macro F1</a:t>
                      </a:r>
                    </a:p>
                  </a:txBody>
                  <a:tcPr marL="73152" marR="73152" marT="27432" marB="27432" anchor="ctr">
                    <a:solidFill>
                      <a:srgbClr val="1D4E89"/>
                    </a:solidFill>
                  </a:tcPr>
                </a:tc>
              </a:tr>
              <a:tr h="548640">
                <a:tc>
                  <a:txBody>
                    <a:bodyPr/>
                    <a:lstStyle/>
                    <a:p>
                      <a:pPr algn="l"/>
                      <a:r>
                        <a:rPr sz="1500" b="0">
                          <a:solidFill>
                            <a:srgbClr val="1F2933"/>
                          </a:solidFill>
                          <a:latin typeface="Calibri"/>
                        </a:rPr>
                        <a:t>TF-IDF + LinearSVC</a:t>
                      </a:r>
                    </a:p>
                  </a:txBody>
                  <a:tcPr marL="73152" marR="73152" marT="27432" marB="27432" anchor="ctr">
                    <a:solidFill>
                      <a:srgbClr val="FFFFFF"/>
                    </a:solidFill>
                  </a:tcPr>
                </a:tc>
                <a:tc>
                  <a:txBody>
                    <a:bodyPr/>
                    <a:lstStyle/>
                    <a:p>
                      <a:pPr algn="ctr"/>
                      <a:r>
                        <a:rPr sz="1500" b="0">
                          <a:solidFill>
                            <a:srgbClr val="1F2933"/>
                          </a:solidFill>
                          <a:latin typeface="Calibri"/>
                        </a:rPr>
                        <a:t>0.724</a:t>
                      </a:r>
                    </a:p>
                  </a:txBody>
                  <a:tcPr marL="73152" marR="73152" marT="27432" marB="27432" anchor="ctr">
                    <a:solidFill>
                      <a:srgbClr val="FFFFFF"/>
                    </a:solidFill>
                  </a:tcPr>
                </a:tc>
                <a:tc>
                  <a:txBody>
                    <a:bodyPr/>
                    <a:lstStyle/>
                    <a:p>
                      <a:pPr algn="ctr"/>
                      <a:r>
                        <a:rPr sz="1500" b="0">
                          <a:solidFill>
                            <a:srgbClr val="1F2933"/>
                          </a:solidFill>
                          <a:latin typeface="Calibri"/>
                        </a:rPr>
                        <a:t>0.635</a:t>
                      </a:r>
                    </a:p>
                  </a:txBody>
                  <a:tcPr marL="73152" marR="73152" marT="27432" marB="27432" anchor="ctr">
                    <a:solidFill>
                      <a:srgbClr val="FFFFFF"/>
                    </a:solidFill>
                  </a:tcPr>
                </a:tc>
              </a:tr>
              <a:tr h="548640">
                <a:tc>
                  <a:txBody>
                    <a:bodyPr/>
                    <a:lstStyle/>
                    <a:p>
                      <a:pPr algn="l"/>
                      <a:r>
                        <a:rPr sz="1500" b="0">
                          <a:solidFill>
                            <a:srgbClr val="1F2933"/>
                          </a:solidFill>
                          <a:latin typeface="Calibri"/>
                        </a:rPr>
                        <a:t>TF-IDF + LR (SGD)</a:t>
                      </a:r>
                    </a:p>
                  </a:txBody>
                  <a:tcPr marL="73152" marR="73152" marT="27432" marB="27432" anchor="ctr">
                    <a:solidFill>
                      <a:srgbClr val="EEF3F9"/>
                    </a:solidFill>
                  </a:tcPr>
                </a:tc>
                <a:tc>
                  <a:txBody>
                    <a:bodyPr/>
                    <a:lstStyle/>
                    <a:p>
                      <a:pPr algn="ctr"/>
                      <a:r>
                        <a:rPr sz="1500" b="0">
                          <a:solidFill>
                            <a:srgbClr val="1F2933"/>
                          </a:solidFill>
                          <a:latin typeface="Calibri"/>
                        </a:rPr>
                        <a:t>0.712</a:t>
                      </a:r>
                    </a:p>
                  </a:txBody>
                  <a:tcPr marL="73152" marR="73152" marT="27432" marB="27432" anchor="ctr">
                    <a:solidFill>
                      <a:srgbClr val="EEF3F9"/>
                    </a:solidFill>
                  </a:tcPr>
                </a:tc>
                <a:tc>
                  <a:txBody>
                    <a:bodyPr/>
                    <a:lstStyle/>
                    <a:p>
                      <a:pPr algn="ctr"/>
                      <a:r>
                        <a:rPr sz="1500" b="0">
                          <a:solidFill>
                            <a:srgbClr val="1F2933"/>
                          </a:solidFill>
                          <a:latin typeface="Calibri"/>
                        </a:rPr>
                        <a:t>0.629</a:t>
                      </a:r>
                    </a:p>
                  </a:txBody>
                  <a:tcPr marL="73152" marR="73152" marT="27432" marB="27432" anchor="ctr">
                    <a:solidFill>
                      <a:srgbClr val="EEF3F9"/>
                    </a:solidFill>
                  </a:tcPr>
                </a:tc>
              </a:tr>
              <a:tr h="548640">
                <a:tc>
                  <a:txBody>
                    <a:bodyPr/>
                    <a:lstStyle/>
                    <a:p>
                      <a:pPr algn="l"/>
                      <a:r>
                        <a:rPr sz="1500" b="0">
                          <a:solidFill>
                            <a:srgbClr val="1F2933"/>
                          </a:solidFill>
                          <a:latin typeface="Calibri"/>
                        </a:rPr>
                        <a:t>TF-IDF + LR (saga, under-conv.)</a:t>
                      </a:r>
                    </a:p>
                  </a:txBody>
                  <a:tcPr marL="73152" marR="73152" marT="27432" marB="27432" anchor="ctr">
                    <a:solidFill>
                      <a:srgbClr val="FFFFFF"/>
                    </a:solidFill>
                  </a:tcPr>
                </a:tc>
                <a:tc>
                  <a:txBody>
                    <a:bodyPr/>
                    <a:lstStyle/>
                    <a:p>
                      <a:pPr algn="ctr"/>
                      <a:r>
                        <a:rPr sz="1500" b="0">
                          <a:solidFill>
                            <a:srgbClr val="1F2933"/>
                          </a:solidFill>
                          <a:latin typeface="Calibri"/>
                        </a:rPr>
                        <a:t>0.580</a:t>
                      </a:r>
                    </a:p>
                  </a:txBody>
                  <a:tcPr marL="73152" marR="73152" marT="27432" marB="27432" anchor="ctr">
                    <a:solidFill>
                      <a:srgbClr val="FFFFFF"/>
                    </a:solidFill>
                  </a:tcPr>
                </a:tc>
                <a:tc>
                  <a:txBody>
                    <a:bodyPr/>
                    <a:lstStyle/>
                    <a:p>
                      <a:pPr algn="ctr"/>
                      <a:r>
                        <a:rPr sz="1500" b="0">
                          <a:solidFill>
                            <a:srgbClr val="1F2933"/>
                          </a:solidFill>
                          <a:latin typeface="Calibri"/>
                        </a:rPr>
                        <a:t>0.470</a:t>
                      </a:r>
                    </a:p>
                  </a:txBody>
                  <a:tcPr marL="73152" marR="73152" marT="27432"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Paper methods: LDA and Doc2Vec</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8 / 15</a:t>
            </a:r>
          </a:p>
        </p:txBody>
      </p:sp>
      <p:sp>
        <p:nvSpPr>
          <p:cNvPr id="6" name="TextBox 5"/>
          <p:cNvSpPr txBox="1"/>
          <p:nvPr/>
        </p:nvSpPr>
        <p:spPr>
          <a:xfrm>
            <a:off x="548640" y="1417320"/>
            <a:ext cx="6035040" cy="4754880"/>
          </a:xfrm>
          <a:prstGeom prst="rect">
            <a:avLst/>
          </a:prstGeom>
          <a:noFill/>
        </p:spPr>
        <p:txBody>
          <a:bodyPr wrap="square" anchor="t" lIns="45720" rIns="45720">
            <a:spAutoFit/>
          </a:bodyPr>
          <a:lstStyle/>
          <a:p>
            <a:pPr algn="l" marL="274320" indent="-274320">
              <a:lnSpc>
                <a:spcPct val="105000"/>
              </a:lnSpc>
              <a:spcAft>
                <a:spcPts val="900"/>
              </a:spcAft>
              <a:buClr>
                <a:srgbClr val="E8A33D"/>
              </a:buClr>
              <a:buFont typeface="Arial"/>
              <a:buChar char="•"/>
            </a:pPr>
            <a:r>
              <a:rPr sz="1800" b="1">
                <a:solidFill>
                  <a:srgbClr val="1F2933"/>
                </a:solidFill>
                <a:latin typeface="Calibri"/>
              </a:rPr>
              <a:t>LDA + LR:</a:t>
            </a:r>
            <a:r>
              <a:rPr sz="1800" b="0">
                <a:solidFill>
                  <a:srgbClr val="1F2933"/>
                </a:solidFill>
                <a:latin typeface="Calibri"/>
              </a:rPr>
              <a:t> topic mixture of each document as features</a:t>
            </a:r>
          </a:p>
          <a:p>
            <a:pPr algn="l" marL="548640" indent="-274320">
              <a:lnSpc>
                <a:spcPct val="105000"/>
              </a:lnSpc>
              <a:spcAft>
                <a:spcPts val="900"/>
              </a:spcAft>
              <a:buClr>
                <a:srgbClr val="52606D"/>
              </a:buClr>
              <a:buFont typeface="Arial"/>
              <a:buChar char="–"/>
            </a:pPr>
            <a:r>
              <a:rPr sz="1600" b="0">
                <a:solidFill>
                  <a:srgbClr val="1F2933"/>
                </a:solidFill>
                <a:latin typeface="Calibri"/>
              </a:rPr>
              <a:t>raw counts (500 terms, min_df 5), 2 batch iterations</a:t>
            </a:r>
          </a:p>
          <a:p>
            <a:pPr algn="l" marL="548640" indent="-274320">
              <a:lnSpc>
                <a:spcPct val="105000"/>
              </a:lnSpc>
              <a:spcAft>
                <a:spcPts val="900"/>
              </a:spcAft>
              <a:buClr>
                <a:srgbClr val="52606D"/>
              </a:buClr>
              <a:buFont typeface="Arial"/>
              <a:buChar char="–"/>
            </a:pPr>
            <a:r>
              <a:rPr sz="1600" b="0">
                <a:solidFill>
                  <a:srgbClr val="1F2933"/>
                </a:solidFill>
                <a:latin typeface="Calibri"/>
              </a:rPr>
              <a:t>K chosen on validation from 10, 20, 30, 40 → K = 40 (grid edge)</a:t>
            </a:r>
          </a:p>
          <a:p>
            <a:pPr algn="l" marL="274320" indent="-274320">
              <a:lnSpc>
                <a:spcPct val="105000"/>
              </a:lnSpc>
              <a:spcAft>
                <a:spcPts val="900"/>
              </a:spcAft>
              <a:buClr>
                <a:srgbClr val="E8A33D"/>
              </a:buClr>
              <a:buFont typeface="Arial"/>
              <a:buChar char="•"/>
            </a:pPr>
            <a:r>
              <a:rPr sz="1800" b="1">
                <a:solidFill>
                  <a:srgbClr val="1F2933"/>
                </a:solidFill>
                <a:latin typeface="Calibri"/>
              </a:rPr>
              <a:t>Doc2Vec + LR:</a:t>
            </a:r>
            <a:r>
              <a:rPr sz="1800" b="0">
                <a:solidFill>
                  <a:srgbClr val="1F2933"/>
                </a:solidFill>
                <a:latin typeface="Calibri"/>
              </a:rPr>
              <a:t> PV-DM, 100 dims, window 5, 5 epochs</a:t>
            </a:r>
          </a:p>
          <a:p>
            <a:pPr algn="l" marL="548640" indent="-274320">
              <a:lnSpc>
                <a:spcPct val="105000"/>
              </a:lnSpc>
              <a:spcAft>
                <a:spcPts val="900"/>
              </a:spcAft>
              <a:buClr>
                <a:srgbClr val="52606D"/>
              </a:buClr>
              <a:buFont typeface="Arial"/>
              <a:buChar char="–"/>
            </a:pPr>
            <a:r>
              <a:rPr sz="1600" b="0">
                <a:solidFill>
                  <a:srgbClr val="1F2933"/>
                </a:solidFill>
                <a:latin typeface="Calibri"/>
              </a:rPr>
              <a:t>trained on train only; val/test vectors inferred</a:t>
            </a:r>
          </a:p>
          <a:p>
            <a:pPr algn="l" marL="548640" indent="-274320">
              <a:lnSpc>
                <a:spcPct val="105000"/>
              </a:lnSpc>
              <a:spcAft>
                <a:spcPts val="900"/>
              </a:spcAft>
              <a:buClr>
                <a:srgbClr val="52606D"/>
              </a:buClr>
              <a:buFont typeface="Arial"/>
              <a:buChar char="–"/>
            </a:pPr>
            <a:r>
              <a:rPr sz="1600" b="0">
                <a:solidFill>
                  <a:srgbClr val="1F2933"/>
                </a:solidFill>
                <a:latin typeface="Calibri"/>
              </a:rPr>
              <a:t>first 500 tokens of each document</a:t>
            </a:r>
          </a:p>
          <a:p>
            <a:pPr algn="l" marL="274320" indent="-274320">
              <a:lnSpc>
                <a:spcPct val="105000"/>
              </a:lnSpc>
              <a:spcAft>
                <a:spcPts val="900"/>
              </a:spcAft>
              <a:buClr>
                <a:srgbClr val="E8A33D"/>
              </a:buClr>
              <a:buFont typeface="Arial"/>
              <a:buChar char="•"/>
            </a:pPr>
            <a:r>
              <a:rPr sz="1800" b="0">
                <a:solidFill>
                  <a:srgbClr val="1F2933"/>
                </a:solidFill>
                <a:latin typeface="Calibri"/>
              </a:rPr>
              <a:t>Reduced CPU configurations: results are a </a:t>
            </a:r>
            <a:r>
              <a:rPr sz="1800" b="1">
                <a:solidFill>
                  <a:srgbClr val="1F2933"/>
                </a:solidFill>
                <a:latin typeface="Calibri"/>
              </a:rPr>
              <a:t>lower bound</a:t>
            </a:r>
            <a:r>
              <a:rPr sz="1800" b="0">
                <a:solidFill>
                  <a:srgbClr val="1F2933"/>
                </a:solidFill>
                <a:latin typeface="Calibri"/>
              </a:rPr>
              <a:t> for these methods</a:t>
            </a:r>
          </a:p>
        </p:txBody>
      </p:sp>
      <p:graphicFrame>
        <p:nvGraphicFramePr>
          <p:cNvPr id="7" name="Table 6"/>
          <p:cNvGraphicFramePr>
            <a:graphicFrameLocks noGrp="1"/>
          </p:cNvGraphicFramePr>
          <p:nvPr/>
        </p:nvGraphicFramePr>
        <p:xfrm>
          <a:off x="6949440" y="1828800"/>
          <a:ext cx="4846320" cy="3017520"/>
        </p:xfrm>
        <a:graphic>
          <a:graphicData uri="http://schemas.openxmlformats.org/drawingml/2006/table">
            <a:tbl>
              <a:tblPr firstRow="1" bandRow="1">
                <a:tableStyleId>{5C22544A-7EE6-4342-B048-85BDC9FD1C3A}</a:tableStyleId>
              </a:tblPr>
              <a:tblGrid>
                <a:gridCol w="2103120"/>
                <a:gridCol w="1371600"/>
                <a:gridCol w="1371600"/>
              </a:tblGrid>
              <a:tr h="502920">
                <a:tc>
                  <a:txBody>
                    <a:bodyPr/>
                    <a:lstStyle/>
                    <a:p>
                      <a:pPr algn="l"/>
                      <a:r>
                        <a:rPr sz="1500" b="1">
                          <a:solidFill>
                            <a:srgbClr val="FFFFFF"/>
                          </a:solidFill>
                          <a:latin typeface="Calibri"/>
                        </a:rPr>
                        <a:t>Model / setting</a:t>
                      </a:r>
                    </a:p>
                  </a:txBody>
                  <a:tcPr marL="73152" marR="73152" marT="27432" marB="27432" anchor="ctr">
                    <a:solidFill>
                      <a:srgbClr val="1D4E89"/>
                    </a:solidFill>
                  </a:tcPr>
                </a:tc>
                <a:tc>
                  <a:txBody>
                    <a:bodyPr/>
                    <a:lstStyle/>
                    <a:p>
                      <a:pPr algn="ctr"/>
                      <a:r>
                        <a:rPr sz="1500" b="1">
                          <a:solidFill>
                            <a:srgbClr val="FFFFFF"/>
                          </a:solidFill>
                          <a:latin typeface="Calibri"/>
                        </a:rPr>
                        <a:t>Val macro F1</a:t>
                      </a:r>
                    </a:p>
                  </a:txBody>
                  <a:tcPr marL="73152" marR="73152" marT="27432" marB="27432" anchor="ctr">
                    <a:solidFill>
                      <a:srgbClr val="1D4E89"/>
                    </a:solidFill>
                  </a:tcPr>
                </a:tc>
                <a:tc>
                  <a:txBody>
                    <a:bodyPr/>
                    <a:lstStyle/>
                    <a:p>
                      <a:pPr algn="ctr"/>
                      <a:r>
                        <a:rPr sz="1500" b="1">
                          <a:solidFill>
                            <a:srgbClr val="FFFFFF"/>
                          </a:solidFill>
                          <a:latin typeface="Calibri"/>
                        </a:rPr>
                        <a:t>Test macro F1</a:t>
                      </a:r>
                    </a:p>
                  </a:txBody>
                  <a:tcPr marL="73152" marR="73152" marT="27432" marB="27432" anchor="ctr">
                    <a:solidFill>
                      <a:srgbClr val="1D4E89"/>
                    </a:solidFill>
                  </a:tcPr>
                </a:tc>
              </a:tr>
              <a:tr h="502920">
                <a:tc>
                  <a:txBody>
                    <a:bodyPr/>
                    <a:lstStyle/>
                    <a:p>
                      <a:pPr algn="l"/>
                      <a:r>
                        <a:rPr sz="1500" b="0">
                          <a:solidFill>
                            <a:srgbClr val="1F2933"/>
                          </a:solidFill>
                          <a:latin typeface="Calibri"/>
                        </a:rPr>
                        <a:t>LDA, K = 10</a:t>
                      </a:r>
                    </a:p>
                  </a:txBody>
                  <a:tcPr marL="73152" marR="73152" marT="27432" marB="27432" anchor="ctr">
                    <a:solidFill>
                      <a:srgbClr val="FFFFFF"/>
                    </a:solidFill>
                  </a:tcPr>
                </a:tc>
                <a:tc>
                  <a:txBody>
                    <a:bodyPr/>
                    <a:lstStyle/>
                    <a:p>
                      <a:pPr algn="ctr"/>
                      <a:r>
                        <a:rPr sz="1500" b="0">
                          <a:solidFill>
                            <a:srgbClr val="1F2933"/>
                          </a:solidFill>
                          <a:latin typeface="Calibri"/>
                        </a:rPr>
                        <a:t>0.223</a:t>
                      </a:r>
                    </a:p>
                  </a:txBody>
                  <a:tcPr marL="73152" marR="73152" marT="27432" marB="27432" anchor="ctr">
                    <a:solidFill>
                      <a:srgbClr val="FFFFFF"/>
                    </a:solidFill>
                  </a:tcPr>
                </a:tc>
                <a:tc>
                  <a:txBody>
                    <a:bodyPr/>
                    <a:lstStyle/>
                    <a:p>
                      <a:pPr algn="ctr"/>
                      <a:r>
                        <a:rPr sz="1500" b="0">
                          <a:solidFill>
                            <a:srgbClr val="1F2933"/>
                          </a:solidFill>
                          <a:latin typeface="Calibri"/>
                        </a:rPr>
                        <a:t>–</a:t>
                      </a:r>
                    </a:p>
                  </a:txBody>
                  <a:tcPr marL="73152" marR="73152" marT="27432" marB="27432" anchor="ctr">
                    <a:solidFill>
                      <a:srgbClr val="FFFFFF"/>
                    </a:solidFill>
                  </a:tcPr>
                </a:tc>
              </a:tr>
              <a:tr h="502920">
                <a:tc>
                  <a:txBody>
                    <a:bodyPr/>
                    <a:lstStyle/>
                    <a:p>
                      <a:pPr algn="l"/>
                      <a:r>
                        <a:rPr sz="1500" b="0">
                          <a:solidFill>
                            <a:srgbClr val="1F2933"/>
                          </a:solidFill>
                          <a:latin typeface="Calibri"/>
                        </a:rPr>
                        <a:t>LDA, K = 20</a:t>
                      </a:r>
                    </a:p>
                  </a:txBody>
                  <a:tcPr marL="73152" marR="73152" marT="27432" marB="27432" anchor="ctr">
                    <a:solidFill>
                      <a:srgbClr val="EEF3F9"/>
                    </a:solidFill>
                  </a:tcPr>
                </a:tc>
                <a:tc>
                  <a:txBody>
                    <a:bodyPr/>
                    <a:lstStyle/>
                    <a:p>
                      <a:pPr algn="ctr"/>
                      <a:r>
                        <a:rPr sz="1500" b="0">
                          <a:solidFill>
                            <a:srgbClr val="1F2933"/>
                          </a:solidFill>
                          <a:latin typeface="Calibri"/>
                        </a:rPr>
                        <a:t>0.292</a:t>
                      </a:r>
                    </a:p>
                  </a:txBody>
                  <a:tcPr marL="73152" marR="73152" marT="27432" marB="27432" anchor="ctr">
                    <a:solidFill>
                      <a:srgbClr val="EEF3F9"/>
                    </a:solidFill>
                  </a:tcPr>
                </a:tc>
                <a:tc>
                  <a:txBody>
                    <a:bodyPr/>
                    <a:lstStyle/>
                    <a:p>
                      <a:pPr algn="ctr"/>
                      <a:r>
                        <a:rPr sz="1500" b="0">
                          <a:solidFill>
                            <a:srgbClr val="1F2933"/>
                          </a:solidFill>
                          <a:latin typeface="Calibri"/>
                        </a:rPr>
                        <a:t>–</a:t>
                      </a:r>
                    </a:p>
                  </a:txBody>
                  <a:tcPr marL="73152" marR="73152" marT="27432" marB="27432" anchor="ctr">
                    <a:solidFill>
                      <a:srgbClr val="EEF3F9"/>
                    </a:solidFill>
                  </a:tcPr>
                </a:tc>
              </a:tr>
              <a:tr h="502920">
                <a:tc>
                  <a:txBody>
                    <a:bodyPr/>
                    <a:lstStyle/>
                    <a:p>
                      <a:pPr algn="l"/>
                      <a:r>
                        <a:rPr sz="1500" b="0">
                          <a:solidFill>
                            <a:srgbClr val="1F2933"/>
                          </a:solidFill>
                          <a:latin typeface="Calibri"/>
                        </a:rPr>
                        <a:t>LDA, K = 30</a:t>
                      </a:r>
                    </a:p>
                  </a:txBody>
                  <a:tcPr marL="73152" marR="73152" marT="27432" marB="27432" anchor="ctr">
                    <a:solidFill>
                      <a:srgbClr val="FFFFFF"/>
                    </a:solidFill>
                  </a:tcPr>
                </a:tc>
                <a:tc>
                  <a:txBody>
                    <a:bodyPr/>
                    <a:lstStyle/>
                    <a:p>
                      <a:pPr algn="ctr"/>
                      <a:r>
                        <a:rPr sz="1500" b="0">
                          <a:solidFill>
                            <a:srgbClr val="1F2933"/>
                          </a:solidFill>
                          <a:latin typeface="Calibri"/>
                        </a:rPr>
                        <a:t>0.320</a:t>
                      </a:r>
                    </a:p>
                  </a:txBody>
                  <a:tcPr marL="73152" marR="73152" marT="27432" marB="27432" anchor="ctr">
                    <a:solidFill>
                      <a:srgbClr val="FFFFFF"/>
                    </a:solidFill>
                  </a:tcPr>
                </a:tc>
                <a:tc>
                  <a:txBody>
                    <a:bodyPr/>
                    <a:lstStyle/>
                    <a:p>
                      <a:pPr algn="ctr"/>
                      <a:r>
                        <a:rPr sz="1500" b="0">
                          <a:solidFill>
                            <a:srgbClr val="1F2933"/>
                          </a:solidFill>
                          <a:latin typeface="Calibri"/>
                        </a:rPr>
                        <a:t>–</a:t>
                      </a:r>
                    </a:p>
                  </a:txBody>
                  <a:tcPr marL="73152" marR="73152" marT="27432" marB="27432" anchor="ctr">
                    <a:solidFill>
                      <a:srgbClr val="FFFFFF"/>
                    </a:solidFill>
                  </a:tcPr>
                </a:tc>
              </a:tr>
              <a:tr h="502920">
                <a:tc>
                  <a:txBody>
                    <a:bodyPr/>
                    <a:lstStyle/>
                    <a:p>
                      <a:pPr algn="l"/>
                      <a:r>
                        <a:rPr sz="1500" b="1">
                          <a:solidFill>
                            <a:srgbClr val="1F2933"/>
                          </a:solidFill>
                          <a:latin typeface="Calibri"/>
                        </a:rPr>
                        <a:t>LDA, K = 40</a:t>
                      </a:r>
                    </a:p>
                  </a:txBody>
                  <a:tcPr marL="73152" marR="73152" marT="27432" marB="27432" anchor="ctr">
                    <a:solidFill>
                      <a:srgbClr val="EEF3F9"/>
                    </a:solidFill>
                  </a:tcPr>
                </a:tc>
                <a:tc>
                  <a:txBody>
                    <a:bodyPr/>
                    <a:lstStyle/>
                    <a:p>
                      <a:pPr algn="ctr"/>
                      <a:r>
                        <a:rPr sz="1500" b="1">
                          <a:solidFill>
                            <a:srgbClr val="1F2933"/>
                          </a:solidFill>
                          <a:latin typeface="Calibri"/>
                        </a:rPr>
                        <a:t>0.349</a:t>
                      </a:r>
                    </a:p>
                  </a:txBody>
                  <a:tcPr marL="73152" marR="73152" marT="27432" marB="27432" anchor="ctr">
                    <a:solidFill>
                      <a:srgbClr val="EEF3F9"/>
                    </a:solidFill>
                  </a:tcPr>
                </a:tc>
                <a:tc>
                  <a:txBody>
                    <a:bodyPr/>
                    <a:lstStyle/>
                    <a:p>
                      <a:pPr algn="ctr"/>
                      <a:r>
                        <a:rPr sz="1500" b="1">
                          <a:solidFill>
                            <a:srgbClr val="1F2933"/>
                          </a:solidFill>
                          <a:latin typeface="Calibri"/>
                        </a:rPr>
                        <a:t>0.321</a:t>
                      </a:r>
                    </a:p>
                  </a:txBody>
                  <a:tcPr marL="73152" marR="73152" marT="27432" marB="27432" anchor="ctr">
                    <a:solidFill>
                      <a:srgbClr val="EEF3F9"/>
                    </a:solidFill>
                  </a:tcPr>
                </a:tc>
              </a:tr>
              <a:tr h="502920">
                <a:tc>
                  <a:txBody>
                    <a:bodyPr/>
                    <a:lstStyle/>
                    <a:p>
                      <a:pPr algn="l"/>
                      <a:r>
                        <a:rPr sz="1500" b="0">
                          <a:solidFill>
                            <a:srgbClr val="1F2933"/>
                          </a:solidFill>
                          <a:latin typeface="Calibri"/>
                        </a:rPr>
                        <a:t>Doc2Vec</a:t>
                      </a:r>
                    </a:p>
                  </a:txBody>
                  <a:tcPr marL="73152" marR="73152" marT="27432" marB="27432" anchor="ctr">
                    <a:solidFill>
                      <a:srgbClr val="FFFFFF"/>
                    </a:solidFill>
                  </a:tcPr>
                </a:tc>
                <a:tc>
                  <a:txBody>
                    <a:bodyPr/>
                    <a:lstStyle/>
                    <a:p>
                      <a:pPr algn="ctr"/>
                      <a:r>
                        <a:rPr sz="1500" b="0">
                          <a:solidFill>
                            <a:srgbClr val="1F2933"/>
                          </a:solidFill>
                          <a:latin typeface="Calibri"/>
                        </a:rPr>
                        <a:t>0.406</a:t>
                      </a:r>
                    </a:p>
                  </a:txBody>
                  <a:tcPr marL="73152" marR="73152" marT="27432" marB="27432" anchor="ctr">
                    <a:solidFill>
                      <a:srgbClr val="FFFFFF"/>
                    </a:solidFill>
                  </a:tcPr>
                </a:tc>
                <a:tc>
                  <a:txBody>
                    <a:bodyPr/>
                    <a:lstStyle/>
                    <a:p>
                      <a:pPr algn="ctr"/>
                      <a:r>
                        <a:rPr sz="1500" b="0">
                          <a:solidFill>
                            <a:srgbClr val="1F2933"/>
                          </a:solidFill>
                          <a:latin typeface="Calibri"/>
                        </a:rPr>
                        <a:t>0.322</a:t>
                      </a:r>
                    </a:p>
                  </a:txBody>
                  <a:tcPr marL="73152" marR="73152" marT="27432" marB="27432"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Transformer: Legal-BERT</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9 / 15</a:t>
            </a:r>
          </a:p>
        </p:txBody>
      </p:sp>
      <p:sp>
        <p:nvSpPr>
          <p:cNvPr id="6" name="TextBox 5"/>
          <p:cNvSpPr txBox="1"/>
          <p:nvPr/>
        </p:nvSpPr>
        <p:spPr>
          <a:xfrm>
            <a:off x="548640" y="1417320"/>
            <a:ext cx="5120640" cy="4754880"/>
          </a:xfrm>
          <a:prstGeom prst="rect">
            <a:avLst/>
          </a:prstGeom>
          <a:noFill/>
        </p:spPr>
        <p:txBody>
          <a:bodyPr wrap="square" anchor="t" lIns="45720" rIns="45720">
            <a:spAutoFit/>
          </a:bodyPr>
          <a:lstStyle/>
          <a:p>
            <a:pPr algn="l" marL="274320" indent="-274320">
              <a:lnSpc>
                <a:spcPct val="105000"/>
              </a:lnSpc>
              <a:spcAft>
                <a:spcPts val="1000"/>
              </a:spcAft>
              <a:buClr>
                <a:srgbClr val="E8A33D"/>
              </a:buClr>
              <a:buFont typeface="Arial"/>
              <a:buChar char="•"/>
            </a:pPr>
            <a:r>
              <a:rPr sz="1700" b="0">
                <a:solidFill>
                  <a:srgbClr val="1D4E89"/>
                </a:solidFill>
                <a:latin typeface="Calibri"/>
              </a:rPr>
              <a:t>nlpaueb/legal-bert-base-uncased</a:t>
            </a:r>
            <a:r>
              <a:rPr sz="1700" b="0">
                <a:solidFill>
                  <a:srgbClr val="1F2933"/>
                </a:solidFill>
                <a:latin typeface="Calibri"/>
              </a:rPr>
              <a:t> + classification head</a:t>
            </a:r>
          </a:p>
          <a:p>
            <a:pPr algn="l" marL="274320" indent="-274320">
              <a:lnSpc>
                <a:spcPct val="105000"/>
              </a:lnSpc>
              <a:spcAft>
                <a:spcPts val="1000"/>
              </a:spcAft>
              <a:buClr>
                <a:srgbClr val="E8A33D"/>
              </a:buClr>
              <a:buFont typeface="Arial"/>
              <a:buChar char="•"/>
            </a:pPr>
            <a:r>
              <a:rPr sz="1700" b="0">
                <a:solidFill>
                  <a:srgbClr val="1F2933"/>
                </a:solidFill>
                <a:latin typeface="Calibri"/>
              </a:rPr>
              <a:t>Input: </a:t>
            </a:r>
            <a:r>
              <a:rPr sz="1700" b="1">
                <a:solidFill>
                  <a:srgbClr val="1F2933"/>
                </a:solidFill>
                <a:latin typeface="Calibri"/>
              </a:rPr>
              <a:t>first 512 tokens</a:t>
            </a:r>
            <a:r>
              <a:rPr sz="1700" b="0">
                <a:solidFill>
                  <a:srgbClr val="1F2933"/>
                </a:solidFill>
                <a:latin typeface="Calibri"/>
              </a:rPr>
              <a:t> only</a:t>
            </a:r>
          </a:p>
          <a:p>
            <a:pPr algn="l" marL="274320" indent="-274320">
              <a:lnSpc>
                <a:spcPct val="105000"/>
              </a:lnSpc>
              <a:spcAft>
                <a:spcPts val="1000"/>
              </a:spcAft>
              <a:buClr>
                <a:srgbClr val="E8A33D"/>
              </a:buClr>
              <a:buFont typeface="Arial"/>
              <a:buChar char="•"/>
            </a:pPr>
            <a:r>
              <a:rPr sz="1700" b="0">
                <a:solidFill>
                  <a:srgbClr val="1F2933"/>
                </a:solidFill>
                <a:latin typeface="Calibri"/>
              </a:rPr>
              <a:t>3 epochs, batch 8 × accumulation 2 = 16, lr 2e-5, weight decay 0.01, mixed precision</a:t>
            </a:r>
          </a:p>
          <a:p>
            <a:pPr algn="l" marL="274320" indent="-274320">
              <a:lnSpc>
                <a:spcPct val="105000"/>
              </a:lnSpc>
              <a:spcAft>
                <a:spcPts val="1000"/>
              </a:spcAft>
              <a:buClr>
                <a:srgbClr val="E8A33D"/>
              </a:buClr>
              <a:buFont typeface="Arial"/>
              <a:buChar char="•"/>
            </a:pPr>
            <a:r>
              <a:rPr sz="1700" b="0">
                <a:solidFill>
                  <a:srgbClr val="1F2933"/>
                </a:solidFill>
                <a:latin typeface="Calibri"/>
              </a:rPr>
              <a:t>No class weights; best epoch by validation macro F1</a:t>
            </a:r>
          </a:p>
          <a:p>
            <a:pPr algn="l" marL="274320" indent="-274320">
              <a:lnSpc>
                <a:spcPct val="105000"/>
              </a:lnSpc>
              <a:spcAft>
                <a:spcPts val="1000"/>
              </a:spcAft>
              <a:buClr>
                <a:srgbClr val="E8A33D"/>
              </a:buClr>
              <a:buFont typeface="Arial"/>
              <a:buChar char="•"/>
            </a:pPr>
            <a:r>
              <a:rPr sz="1700" b="0">
                <a:solidFill>
                  <a:srgbClr val="1F2933"/>
                </a:solidFill>
                <a:latin typeface="Calibri"/>
              </a:rPr>
              <a:t>Colab Tesla T4, 19.6 min</a:t>
            </a:r>
          </a:p>
          <a:p>
            <a:pPr algn="l" marL="274320" indent="-274320">
              <a:lnSpc>
                <a:spcPct val="105000"/>
              </a:lnSpc>
              <a:spcAft>
                <a:spcPts val="1000"/>
              </a:spcAft>
              <a:buClr>
                <a:srgbClr val="E8A33D"/>
              </a:buClr>
              <a:buFont typeface="Arial"/>
              <a:buChar char="•"/>
            </a:pPr>
            <a:r>
              <a:rPr sz="1700" b="0">
                <a:solidFill>
                  <a:srgbClr val="1F2933"/>
                </a:solidFill>
                <a:latin typeface="Calibri"/>
              </a:rPr>
              <a:t>Three identical runs: test macro F1 0.5124–0.5319 (reported: 0.5124)</a:t>
            </a:r>
          </a:p>
        </p:txBody>
      </p:sp>
      <p:pic>
        <p:nvPicPr>
          <p:cNvPr id="7" name="Picture 6" descr="token_length_histogram.png"/>
          <p:cNvPicPr>
            <a:picLocks noChangeAspect="1"/>
          </p:cNvPicPr>
          <p:nvPr/>
        </p:nvPicPr>
        <p:blipFill>
          <a:blip r:embed="rId3"/>
          <a:stretch>
            <a:fillRect/>
          </a:stretch>
        </p:blipFill>
        <p:spPr>
          <a:xfrm>
            <a:off x="5760720" y="1577340"/>
            <a:ext cx="6126480" cy="3063240"/>
          </a:xfrm>
          <a:prstGeom prst="rect">
            <a:avLst/>
          </a:prstGeom>
        </p:spPr>
      </p:pic>
      <p:sp>
        <p:nvSpPr>
          <p:cNvPr id="8" name="Rounded Rectangle 7"/>
          <p:cNvSpPr/>
          <p:nvPr/>
        </p:nvSpPr>
        <p:spPr>
          <a:xfrm>
            <a:off x="6035040" y="4937760"/>
            <a:ext cx="5577840" cy="1143000"/>
          </a:xfrm>
          <a:prstGeom prst="roundRect">
            <a:avLst>
              <a:gd name="adj" fmla="val 12000"/>
            </a:avLst>
          </a:prstGeom>
          <a:solidFill>
            <a:srgbClr val="FBEBD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700" b="1">
                <a:solidFill>
                  <a:srgbClr val="1F2933"/>
                </a:solidFill>
                <a:latin typeface="Calibri"/>
              </a:rPr>
              <a:t>93% of documents exceed 512 tokens</a:t>
            </a:r>
          </a:p>
          <a:p>
            <a:pPr algn="ctr"/>
            <a:r>
              <a:rPr sz="1500" b="0">
                <a:solidFill>
                  <a:srgbClr val="1F2933"/>
                </a:solidFill>
                <a:latin typeface="Calibri"/>
              </a:rPr>
              <a:t>first 512 tokens ≈ 20% of a document (median ≈ 5,470 tokens)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Results (test split)</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10 / 15</a:t>
            </a:r>
          </a:p>
        </p:txBody>
      </p:sp>
      <p:graphicFrame>
        <p:nvGraphicFramePr>
          <p:cNvPr id="6" name="Table 5"/>
          <p:cNvGraphicFramePr>
            <a:graphicFrameLocks noGrp="1"/>
          </p:cNvGraphicFramePr>
          <p:nvPr/>
        </p:nvGraphicFramePr>
        <p:xfrm>
          <a:off x="548640" y="1463040"/>
          <a:ext cx="6720840" cy="4096512"/>
        </p:xfrm>
        <a:graphic>
          <a:graphicData uri="http://schemas.openxmlformats.org/drawingml/2006/table">
            <a:tbl>
              <a:tblPr firstRow="1" bandRow="1">
                <a:tableStyleId>{5C22544A-7EE6-4342-B048-85BDC9FD1C3A}</a:tableStyleId>
              </a:tblPr>
              <a:tblGrid>
                <a:gridCol w="3017520"/>
                <a:gridCol w="1051560"/>
                <a:gridCol w="1600200"/>
                <a:gridCol w="1051560"/>
              </a:tblGrid>
              <a:tr h="512064">
                <a:tc>
                  <a:txBody>
                    <a:bodyPr/>
                    <a:lstStyle/>
                    <a:p>
                      <a:pPr algn="l"/>
                      <a:r>
                        <a:rPr sz="1400" b="1">
                          <a:solidFill>
                            <a:srgbClr val="FFFFFF"/>
                          </a:solidFill>
                          <a:latin typeface="Calibri"/>
                        </a:rPr>
                        <a:t>Model</a:t>
                      </a:r>
                    </a:p>
                  </a:txBody>
                  <a:tcPr marL="73152" marR="73152" marT="27432" marB="27432" anchor="ctr">
                    <a:solidFill>
                      <a:srgbClr val="1D4E89"/>
                    </a:solidFill>
                  </a:tcPr>
                </a:tc>
                <a:tc>
                  <a:txBody>
                    <a:bodyPr/>
                    <a:lstStyle/>
                    <a:p>
                      <a:pPr algn="ctr"/>
                      <a:r>
                        <a:rPr sz="1400" b="1">
                          <a:solidFill>
                            <a:srgbClr val="FFFFFF"/>
                          </a:solidFill>
                          <a:latin typeface="Calibri"/>
                        </a:rPr>
                        <a:t>Macro F1</a:t>
                      </a:r>
                    </a:p>
                  </a:txBody>
                  <a:tcPr marL="73152" marR="73152" marT="27432" marB="27432" anchor="ctr">
                    <a:solidFill>
                      <a:srgbClr val="1D4E89"/>
                    </a:solidFill>
                  </a:tcPr>
                </a:tc>
                <a:tc>
                  <a:txBody>
                    <a:bodyPr/>
                    <a:lstStyle/>
                    <a:p>
                      <a:pPr algn="ctr"/>
                      <a:r>
                        <a:rPr sz="1400" b="1">
                          <a:solidFill>
                            <a:srgbClr val="FFFFFF"/>
                          </a:solidFill>
                          <a:latin typeface="Calibri"/>
                        </a:rPr>
                        <a:t>95% CI</a:t>
                      </a:r>
                    </a:p>
                  </a:txBody>
                  <a:tcPr marL="73152" marR="73152" marT="27432" marB="27432" anchor="ctr">
                    <a:solidFill>
                      <a:srgbClr val="1D4E89"/>
                    </a:solidFill>
                  </a:tcPr>
                </a:tc>
                <a:tc>
                  <a:txBody>
                    <a:bodyPr/>
                    <a:lstStyle/>
                    <a:p>
                      <a:pPr algn="ctr"/>
                      <a:r>
                        <a:rPr sz="1400" b="1">
                          <a:solidFill>
                            <a:srgbClr val="FFFFFF"/>
                          </a:solidFill>
                          <a:latin typeface="Calibri"/>
                        </a:rPr>
                        <a:t>Accuracy</a:t>
                      </a:r>
                    </a:p>
                  </a:txBody>
                  <a:tcPr marL="73152" marR="73152" marT="27432" marB="27432" anchor="ctr">
                    <a:solidFill>
                      <a:srgbClr val="1D4E89"/>
                    </a:solidFill>
                  </a:tcPr>
                </a:tc>
              </a:tr>
              <a:tr h="512064">
                <a:tc>
                  <a:txBody>
                    <a:bodyPr/>
                    <a:lstStyle/>
                    <a:p>
                      <a:pPr algn="l"/>
                      <a:r>
                        <a:rPr sz="1400" b="1">
                          <a:solidFill>
                            <a:srgbClr val="1F2933"/>
                          </a:solidFill>
                          <a:latin typeface="Calibri"/>
                        </a:rPr>
                        <a:t>TF-IDF + LinearSVC</a:t>
                      </a:r>
                    </a:p>
                  </a:txBody>
                  <a:tcPr marL="73152" marR="73152" marT="27432" marB="27432" anchor="ctr">
                    <a:solidFill>
                      <a:srgbClr val="FFFFFF"/>
                    </a:solidFill>
                  </a:tcPr>
                </a:tc>
                <a:tc>
                  <a:txBody>
                    <a:bodyPr/>
                    <a:lstStyle/>
                    <a:p>
                      <a:pPr algn="ctr"/>
                      <a:r>
                        <a:rPr sz="1400" b="1">
                          <a:solidFill>
                            <a:srgbClr val="1F2933"/>
                          </a:solidFill>
                          <a:latin typeface="Calibri"/>
                        </a:rPr>
                        <a:t>0.635</a:t>
                      </a:r>
                    </a:p>
                  </a:txBody>
                  <a:tcPr marL="73152" marR="73152" marT="27432" marB="27432" anchor="ctr">
                    <a:solidFill>
                      <a:srgbClr val="FFFFFF"/>
                    </a:solidFill>
                  </a:tcPr>
                </a:tc>
                <a:tc>
                  <a:txBody>
                    <a:bodyPr/>
                    <a:lstStyle/>
                    <a:p>
                      <a:pPr algn="ctr"/>
                      <a:r>
                        <a:rPr sz="1400" b="1">
                          <a:solidFill>
                            <a:srgbClr val="1F2933"/>
                          </a:solidFill>
                          <a:latin typeface="Calibri"/>
                        </a:rPr>
                        <a:t>[0.598, 0.691]</a:t>
                      </a:r>
                    </a:p>
                  </a:txBody>
                  <a:tcPr marL="73152" marR="73152" marT="27432" marB="27432" anchor="ctr">
                    <a:solidFill>
                      <a:srgbClr val="FFFFFF"/>
                    </a:solidFill>
                  </a:tcPr>
                </a:tc>
                <a:tc>
                  <a:txBody>
                    <a:bodyPr/>
                    <a:lstStyle/>
                    <a:p>
                      <a:pPr algn="ctr"/>
                      <a:r>
                        <a:rPr sz="1400" b="1">
                          <a:solidFill>
                            <a:srgbClr val="1F2933"/>
                          </a:solidFill>
                          <a:latin typeface="Calibri"/>
                        </a:rPr>
                        <a:t>0.737</a:t>
                      </a:r>
                    </a:p>
                  </a:txBody>
                  <a:tcPr marL="73152" marR="73152" marT="27432" marB="27432" anchor="ctr">
                    <a:solidFill>
                      <a:srgbClr val="FFFFFF"/>
                    </a:solidFill>
                  </a:tcPr>
                </a:tc>
              </a:tr>
              <a:tr h="512064">
                <a:tc>
                  <a:txBody>
                    <a:bodyPr/>
                    <a:lstStyle/>
                    <a:p>
                      <a:pPr algn="l"/>
                      <a:r>
                        <a:rPr sz="1400" b="0">
                          <a:solidFill>
                            <a:srgbClr val="1F2933"/>
                          </a:solidFill>
                          <a:latin typeface="Calibri"/>
                        </a:rPr>
                        <a:t>TF-IDF + LR (SGD, log loss)</a:t>
                      </a:r>
                    </a:p>
                  </a:txBody>
                  <a:tcPr marL="73152" marR="73152" marT="27432" marB="27432" anchor="ctr">
                    <a:solidFill>
                      <a:srgbClr val="EEF3F9"/>
                    </a:solidFill>
                  </a:tcPr>
                </a:tc>
                <a:tc>
                  <a:txBody>
                    <a:bodyPr/>
                    <a:lstStyle/>
                    <a:p>
                      <a:pPr algn="ctr"/>
                      <a:r>
                        <a:rPr sz="1400" b="0">
                          <a:solidFill>
                            <a:srgbClr val="1F2933"/>
                          </a:solidFill>
                          <a:latin typeface="Calibri"/>
                        </a:rPr>
                        <a:t>0.629</a:t>
                      </a:r>
                    </a:p>
                  </a:txBody>
                  <a:tcPr marL="73152" marR="73152" marT="27432" marB="27432" anchor="ctr">
                    <a:solidFill>
                      <a:srgbClr val="EEF3F9"/>
                    </a:solidFill>
                  </a:tcPr>
                </a:tc>
                <a:tc>
                  <a:txBody>
                    <a:bodyPr/>
                    <a:lstStyle/>
                    <a:p>
                      <a:pPr algn="ctr"/>
                      <a:r>
                        <a:rPr sz="1400" b="0">
                          <a:solidFill>
                            <a:srgbClr val="1F2933"/>
                          </a:solidFill>
                          <a:latin typeface="Calibri"/>
                        </a:rPr>
                        <a:t>[0.590, 0.682]</a:t>
                      </a:r>
                    </a:p>
                  </a:txBody>
                  <a:tcPr marL="73152" marR="73152" marT="27432" marB="27432" anchor="ctr">
                    <a:solidFill>
                      <a:srgbClr val="EEF3F9"/>
                    </a:solidFill>
                  </a:tcPr>
                </a:tc>
                <a:tc>
                  <a:txBody>
                    <a:bodyPr/>
                    <a:lstStyle/>
                    <a:p>
                      <a:pPr algn="ctr"/>
                      <a:r>
                        <a:rPr sz="1400" b="0">
                          <a:solidFill>
                            <a:srgbClr val="1F2933"/>
                          </a:solidFill>
                          <a:latin typeface="Calibri"/>
                        </a:rPr>
                        <a:t>0.732</a:t>
                      </a:r>
                    </a:p>
                  </a:txBody>
                  <a:tcPr marL="73152" marR="73152" marT="27432" marB="27432" anchor="ctr">
                    <a:solidFill>
                      <a:srgbClr val="EEF3F9"/>
                    </a:solidFill>
                  </a:tcPr>
                </a:tc>
              </a:tr>
              <a:tr h="512064">
                <a:tc>
                  <a:txBody>
                    <a:bodyPr/>
                    <a:lstStyle/>
                    <a:p>
                      <a:pPr algn="l"/>
                      <a:r>
                        <a:rPr sz="1400" b="0">
                          <a:solidFill>
                            <a:srgbClr val="1F2933"/>
                          </a:solidFill>
                          <a:latin typeface="Calibri"/>
                        </a:rPr>
                        <a:t>Legal-BERT (512 tok.)</a:t>
                      </a:r>
                    </a:p>
                  </a:txBody>
                  <a:tcPr marL="73152" marR="73152" marT="27432" marB="27432" anchor="ctr">
                    <a:solidFill>
                      <a:srgbClr val="FFFFFF"/>
                    </a:solidFill>
                  </a:tcPr>
                </a:tc>
                <a:tc>
                  <a:txBody>
                    <a:bodyPr/>
                    <a:lstStyle/>
                    <a:p>
                      <a:pPr algn="ctr"/>
                      <a:r>
                        <a:rPr sz="1400" b="0">
                          <a:solidFill>
                            <a:srgbClr val="1F2933"/>
                          </a:solidFill>
                          <a:latin typeface="Calibri"/>
                        </a:rPr>
                        <a:t>0.512</a:t>
                      </a:r>
                    </a:p>
                  </a:txBody>
                  <a:tcPr marL="73152" marR="73152" marT="27432" marB="27432" anchor="ctr">
                    <a:solidFill>
                      <a:srgbClr val="FFFFFF"/>
                    </a:solidFill>
                  </a:tcPr>
                </a:tc>
                <a:tc>
                  <a:txBody>
                    <a:bodyPr/>
                    <a:lstStyle/>
                    <a:p>
                      <a:pPr algn="ctr"/>
                      <a:r>
                        <a:rPr sz="1400" b="0">
                          <a:solidFill>
                            <a:srgbClr val="1F2933"/>
                          </a:solidFill>
                          <a:latin typeface="Calibri"/>
                        </a:rPr>
                        <a:t>[0.476, 0.556]</a:t>
                      </a:r>
                    </a:p>
                  </a:txBody>
                  <a:tcPr marL="73152" marR="73152" marT="27432" marB="27432" anchor="ctr">
                    <a:solidFill>
                      <a:srgbClr val="FFFFFF"/>
                    </a:solidFill>
                  </a:tcPr>
                </a:tc>
                <a:tc>
                  <a:txBody>
                    <a:bodyPr/>
                    <a:lstStyle/>
                    <a:p>
                      <a:pPr algn="ctr"/>
                      <a:r>
                        <a:rPr sz="1400" b="0">
                          <a:solidFill>
                            <a:srgbClr val="1F2933"/>
                          </a:solidFill>
                          <a:latin typeface="Calibri"/>
                        </a:rPr>
                        <a:t>0.724</a:t>
                      </a:r>
                    </a:p>
                  </a:txBody>
                  <a:tcPr marL="73152" marR="73152" marT="27432" marB="27432" anchor="ctr">
                    <a:solidFill>
                      <a:srgbClr val="FFFFFF"/>
                    </a:solidFill>
                  </a:tcPr>
                </a:tc>
              </a:tr>
              <a:tr h="512064">
                <a:tc>
                  <a:txBody>
                    <a:bodyPr/>
                    <a:lstStyle/>
                    <a:p>
                      <a:pPr algn="l"/>
                      <a:r>
                        <a:rPr sz="1400" b="0">
                          <a:solidFill>
                            <a:srgbClr val="1F2933"/>
                          </a:solidFill>
                          <a:latin typeface="Calibri"/>
                        </a:rPr>
                        <a:t>LDA topics + LR</a:t>
                      </a:r>
                    </a:p>
                  </a:txBody>
                  <a:tcPr marL="73152" marR="73152" marT="27432" marB="27432" anchor="ctr">
                    <a:solidFill>
                      <a:srgbClr val="EEF3F9"/>
                    </a:solidFill>
                  </a:tcPr>
                </a:tc>
                <a:tc>
                  <a:txBody>
                    <a:bodyPr/>
                    <a:lstStyle/>
                    <a:p>
                      <a:pPr algn="ctr"/>
                      <a:r>
                        <a:rPr sz="1400" b="0">
                          <a:solidFill>
                            <a:srgbClr val="1F2933"/>
                          </a:solidFill>
                          <a:latin typeface="Calibri"/>
                        </a:rPr>
                        <a:t>0.321</a:t>
                      </a:r>
                    </a:p>
                  </a:txBody>
                  <a:tcPr marL="73152" marR="73152" marT="27432" marB="27432" anchor="ctr">
                    <a:solidFill>
                      <a:srgbClr val="EEF3F9"/>
                    </a:solidFill>
                  </a:tcPr>
                </a:tc>
                <a:tc>
                  <a:txBody>
                    <a:bodyPr/>
                    <a:lstStyle/>
                    <a:p>
                      <a:pPr algn="ctr"/>
                      <a:r>
                        <a:rPr sz="1400" b="0">
                          <a:solidFill>
                            <a:srgbClr val="1F2933"/>
                          </a:solidFill>
                          <a:latin typeface="Calibri"/>
                        </a:rPr>
                        <a:t>[0.298, 0.350]</a:t>
                      </a:r>
                    </a:p>
                  </a:txBody>
                  <a:tcPr marL="73152" marR="73152" marT="27432" marB="27432" anchor="ctr">
                    <a:solidFill>
                      <a:srgbClr val="EEF3F9"/>
                    </a:solidFill>
                  </a:tcPr>
                </a:tc>
                <a:tc>
                  <a:txBody>
                    <a:bodyPr/>
                    <a:lstStyle/>
                    <a:p>
                      <a:pPr algn="ctr"/>
                      <a:r>
                        <a:rPr sz="1400" b="0">
                          <a:solidFill>
                            <a:srgbClr val="1F2933"/>
                          </a:solidFill>
                          <a:latin typeface="Calibri"/>
                        </a:rPr>
                        <a:t>0.546</a:t>
                      </a:r>
                    </a:p>
                  </a:txBody>
                  <a:tcPr marL="73152" marR="73152" marT="27432" marB="27432" anchor="ctr">
                    <a:solidFill>
                      <a:srgbClr val="EEF3F9"/>
                    </a:solidFill>
                  </a:tcPr>
                </a:tc>
              </a:tr>
              <a:tr h="512064">
                <a:tc>
                  <a:txBody>
                    <a:bodyPr/>
                    <a:lstStyle/>
                    <a:p>
                      <a:pPr algn="l"/>
                      <a:r>
                        <a:rPr sz="1400" b="0">
                          <a:solidFill>
                            <a:srgbClr val="1F2933"/>
                          </a:solidFill>
                          <a:latin typeface="Calibri"/>
                        </a:rPr>
                        <a:t>Doc2Vec + LR</a:t>
                      </a:r>
                    </a:p>
                  </a:txBody>
                  <a:tcPr marL="73152" marR="73152" marT="27432" marB="27432" anchor="ctr">
                    <a:solidFill>
                      <a:srgbClr val="FFFFFF"/>
                    </a:solidFill>
                  </a:tcPr>
                </a:tc>
                <a:tc>
                  <a:txBody>
                    <a:bodyPr/>
                    <a:lstStyle/>
                    <a:p>
                      <a:pPr algn="ctr"/>
                      <a:r>
                        <a:rPr sz="1400" b="0">
                          <a:solidFill>
                            <a:srgbClr val="1F2933"/>
                          </a:solidFill>
                          <a:latin typeface="Calibri"/>
                        </a:rPr>
                        <a:t>0.322</a:t>
                      </a:r>
                    </a:p>
                  </a:txBody>
                  <a:tcPr marL="73152" marR="73152" marT="27432" marB="27432" anchor="ctr">
                    <a:solidFill>
                      <a:srgbClr val="FFFFFF"/>
                    </a:solidFill>
                  </a:tcPr>
                </a:tc>
                <a:tc>
                  <a:txBody>
                    <a:bodyPr/>
                    <a:lstStyle/>
                    <a:p>
                      <a:pPr algn="ctr"/>
                      <a:r>
                        <a:rPr sz="1400" b="0">
                          <a:solidFill>
                            <a:srgbClr val="1F2933"/>
                          </a:solidFill>
                          <a:latin typeface="Calibri"/>
                        </a:rPr>
                        <a:t>[0.292, 0.353]</a:t>
                      </a:r>
                    </a:p>
                  </a:txBody>
                  <a:tcPr marL="73152" marR="73152" marT="27432" marB="27432" anchor="ctr">
                    <a:solidFill>
                      <a:srgbClr val="FFFFFF"/>
                    </a:solidFill>
                  </a:tcPr>
                </a:tc>
                <a:tc>
                  <a:txBody>
                    <a:bodyPr/>
                    <a:lstStyle/>
                    <a:p>
                      <a:pPr algn="ctr"/>
                      <a:r>
                        <a:rPr sz="1400" b="0">
                          <a:solidFill>
                            <a:srgbClr val="1F2933"/>
                          </a:solidFill>
                          <a:latin typeface="Calibri"/>
                        </a:rPr>
                        <a:t>0.474</a:t>
                      </a:r>
                    </a:p>
                  </a:txBody>
                  <a:tcPr marL="73152" marR="73152" marT="27432" marB="27432" anchor="ctr">
                    <a:solidFill>
                      <a:srgbClr val="FFFFFF"/>
                    </a:solidFill>
                  </a:tcPr>
                </a:tc>
              </a:tr>
              <a:tr h="512064">
                <a:tc>
                  <a:txBody>
                    <a:bodyPr/>
                    <a:lstStyle/>
                    <a:p>
                      <a:pPr algn="l"/>
                      <a:r>
                        <a:rPr sz="1400" b="0">
                          <a:solidFill>
                            <a:srgbClr val="1F2933"/>
                          </a:solidFill>
                          <a:latin typeface="Calibri"/>
                        </a:rPr>
                        <a:t>TF-IDF + LR (saga, under-conv.)</a:t>
                      </a:r>
                    </a:p>
                  </a:txBody>
                  <a:tcPr marL="73152" marR="73152" marT="27432" marB="27432" anchor="ctr">
                    <a:solidFill>
                      <a:srgbClr val="EEF3F9"/>
                    </a:solidFill>
                  </a:tcPr>
                </a:tc>
                <a:tc>
                  <a:txBody>
                    <a:bodyPr/>
                    <a:lstStyle/>
                    <a:p>
                      <a:pPr algn="ctr"/>
                      <a:r>
                        <a:rPr sz="1400" b="0">
                          <a:solidFill>
                            <a:srgbClr val="1F2933"/>
                          </a:solidFill>
                          <a:latin typeface="Calibri"/>
                        </a:rPr>
                        <a:t>0.470</a:t>
                      </a:r>
                    </a:p>
                  </a:txBody>
                  <a:tcPr marL="73152" marR="73152" marT="27432" marB="27432" anchor="ctr">
                    <a:solidFill>
                      <a:srgbClr val="EEF3F9"/>
                    </a:solidFill>
                  </a:tcPr>
                </a:tc>
                <a:tc>
                  <a:txBody>
                    <a:bodyPr/>
                    <a:lstStyle/>
                    <a:p>
                      <a:pPr algn="ctr"/>
                      <a:r>
                        <a:rPr sz="1400" b="0">
                          <a:solidFill>
                            <a:srgbClr val="1F2933"/>
                          </a:solidFill>
                          <a:latin typeface="Calibri"/>
                        </a:rPr>
                        <a:t>[0.434, 0.510]</a:t>
                      </a:r>
                    </a:p>
                  </a:txBody>
                  <a:tcPr marL="73152" marR="73152" marT="27432" marB="27432" anchor="ctr">
                    <a:solidFill>
                      <a:srgbClr val="EEF3F9"/>
                    </a:solidFill>
                  </a:tcPr>
                </a:tc>
                <a:tc>
                  <a:txBody>
                    <a:bodyPr/>
                    <a:lstStyle/>
                    <a:p>
                      <a:pPr algn="ctr"/>
                      <a:r>
                        <a:rPr sz="1400" b="0">
                          <a:solidFill>
                            <a:srgbClr val="1F2933"/>
                          </a:solidFill>
                          <a:latin typeface="Calibri"/>
                        </a:rPr>
                        <a:t>0.680</a:t>
                      </a:r>
                    </a:p>
                  </a:txBody>
                  <a:tcPr marL="73152" marR="73152" marT="27432" marB="27432" anchor="ctr">
                    <a:solidFill>
                      <a:srgbClr val="EEF3F9"/>
                    </a:solidFill>
                  </a:tcPr>
                </a:tc>
              </a:tr>
              <a:tr h="512064">
                <a:tc>
                  <a:txBody>
                    <a:bodyPr/>
                    <a:lstStyle/>
                    <a:p>
                      <a:pPr algn="l"/>
                      <a:r>
                        <a:rPr sz="1400" b="0">
                          <a:solidFill>
                            <a:srgbClr val="1F2933"/>
                          </a:solidFill>
                          <a:latin typeface="Calibri"/>
                        </a:rPr>
                        <a:t>Majority class (train)</a:t>
                      </a:r>
                    </a:p>
                  </a:txBody>
                  <a:tcPr marL="73152" marR="73152" marT="27432" marB="27432" anchor="ctr">
                    <a:solidFill>
                      <a:srgbClr val="FFFFFF"/>
                    </a:solidFill>
                  </a:tcPr>
                </a:tc>
                <a:tc>
                  <a:txBody>
                    <a:bodyPr/>
                    <a:lstStyle/>
                    <a:p>
                      <a:pPr algn="ctr"/>
                      <a:r>
                        <a:rPr sz="1400" b="0">
                          <a:solidFill>
                            <a:srgbClr val="1F2933"/>
                          </a:solidFill>
                          <a:latin typeface="Calibri"/>
                        </a:rPr>
                        <a:t>0.024</a:t>
                      </a:r>
                    </a:p>
                  </a:txBody>
                  <a:tcPr marL="73152" marR="73152" marT="27432" marB="27432" anchor="ctr">
                    <a:solidFill>
                      <a:srgbClr val="FFFFFF"/>
                    </a:solidFill>
                  </a:tcPr>
                </a:tc>
                <a:tc>
                  <a:txBody>
                    <a:bodyPr/>
                    <a:lstStyle/>
                    <a:p>
                      <a:pPr algn="ctr"/>
                      <a:r>
                        <a:rPr sz="1400" b="0">
                          <a:solidFill>
                            <a:srgbClr val="1F2933"/>
                          </a:solidFill>
                          <a:latin typeface="Calibri"/>
                        </a:rPr>
                        <a:t>[0.022, 0.027]</a:t>
                      </a:r>
                    </a:p>
                  </a:txBody>
                  <a:tcPr marL="73152" marR="73152" marT="27432" marB="27432" anchor="ctr">
                    <a:solidFill>
                      <a:srgbClr val="FFFFFF"/>
                    </a:solidFill>
                  </a:tcPr>
                </a:tc>
                <a:tc>
                  <a:txBody>
                    <a:bodyPr/>
                    <a:lstStyle/>
                    <a:p>
                      <a:pPr algn="ctr"/>
                      <a:r>
                        <a:rPr sz="1400" b="0">
                          <a:solidFill>
                            <a:srgbClr val="1F2933"/>
                          </a:solidFill>
                          <a:latin typeface="Calibri"/>
                        </a:rPr>
                        <a:t>0.186</a:t>
                      </a:r>
                    </a:p>
                  </a:txBody>
                  <a:tcPr marL="73152" marR="73152" marT="27432" marB="27432" anchor="ctr">
                    <a:solidFill>
                      <a:srgbClr val="FFFFFF"/>
                    </a:solidFill>
                  </a:tcPr>
                </a:tc>
              </a:tr>
            </a:tbl>
          </a:graphicData>
        </a:graphic>
      </p:graphicFrame>
      <p:pic>
        <p:nvPicPr>
          <p:cNvPr id="7" name="Picture 6" descr="image.png"/>
          <p:cNvPicPr>
            <a:picLocks noChangeAspect="1"/>
          </p:cNvPicPr>
          <p:nvPr/>
        </p:nvPicPr>
        <p:blipFill>
          <a:blip r:embed="rId3"/>
          <a:stretch>
            <a:fillRect/>
          </a:stretch>
        </p:blipFill>
        <p:spPr>
          <a:xfrm>
            <a:off x="7322695" y="1463040"/>
            <a:ext cx="4557009" cy="3474720"/>
          </a:xfrm>
          <a:prstGeom prst="rect">
            <a:avLst/>
          </a:prstGeom>
        </p:spPr>
      </p:pic>
      <p:sp>
        <p:nvSpPr>
          <p:cNvPr id="8" name="TextBox 7"/>
          <p:cNvSpPr txBox="1"/>
          <p:nvPr/>
        </p:nvSpPr>
        <p:spPr>
          <a:xfrm>
            <a:off x="7406640" y="5074920"/>
            <a:ext cx="4480560" cy="1097280"/>
          </a:xfrm>
          <a:prstGeom prst="rect">
            <a:avLst/>
          </a:prstGeom>
          <a:noFill/>
        </p:spPr>
        <p:txBody>
          <a:bodyPr wrap="square" anchor="t" lIns="45720" rIns="45720">
            <a:spAutoFit/>
          </a:bodyPr>
          <a:lstStyle/>
          <a:p>
            <a:pPr algn="l" marL="274320" indent="-274320">
              <a:lnSpc>
                <a:spcPct val="105000"/>
              </a:lnSpc>
              <a:spcAft>
                <a:spcPts val="600"/>
              </a:spcAft>
              <a:buClr>
                <a:srgbClr val="E8A33D"/>
              </a:buClr>
              <a:buFont typeface="Arial"/>
              <a:buChar char="•"/>
            </a:pPr>
            <a:r>
              <a:rPr sz="1500" b="0">
                <a:solidFill>
                  <a:srgbClr val="1F2933"/>
                </a:solidFill>
                <a:latin typeface="Calibri"/>
              </a:rPr>
              <a:t>TF-IDF models best; Legal-BERT's CI and LinearSVC's do not overlap</a:t>
            </a:r>
          </a:p>
          <a:p>
            <a:pPr algn="l" marL="274320" indent="-274320">
              <a:lnSpc>
                <a:spcPct val="105000"/>
              </a:lnSpc>
              <a:spcAft>
                <a:spcPts val="600"/>
              </a:spcAft>
              <a:buClr>
                <a:srgbClr val="E8A33D"/>
              </a:buClr>
              <a:buFont typeface="Arial"/>
              <a:buChar char="•"/>
            </a:pPr>
            <a:r>
              <a:rPr sz="1500" b="0">
                <a:solidFill>
                  <a:srgbClr val="1F2933"/>
                </a:solidFill>
                <a:latin typeface="Calibri"/>
              </a:rPr>
              <a:t>Macro F1 punishes ignoring rare classes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Error analysis</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11 / 15</a:t>
            </a:r>
          </a:p>
        </p:txBody>
      </p:sp>
      <p:sp>
        <p:nvSpPr>
          <p:cNvPr id="6" name="TextBox 5"/>
          <p:cNvSpPr txBox="1"/>
          <p:nvPr/>
        </p:nvSpPr>
        <p:spPr>
          <a:xfrm>
            <a:off x="548640" y="1417320"/>
            <a:ext cx="5120640" cy="4754880"/>
          </a:xfrm>
          <a:prstGeom prst="rect">
            <a:avLst/>
          </a:prstGeom>
          <a:noFill/>
        </p:spPr>
        <p:txBody>
          <a:bodyPr wrap="square" anchor="t" lIns="45720" rIns="45720">
            <a:spAutoFit/>
          </a:bodyPr>
          <a:lstStyle/>
          <a:p>
            <a:pPr algn="l" marL="274320" indent="-274320">
              <a:lnSpc>
                <a:spcPct val="105000"/>
              </a:lnSpc>
              <a:spcAft>
                <a:spcPts val="1000"/>
              </a:spcAft>
              <a:buClr>
                <a:srgbClr val="E8A33D"/>
              </a:buClr>
              <a:buFont typeface="Arial"/>
              <a:buChar char="•"/>
            </a:pPr>
            <a:r>
              <a:rPr sz="1700" b="0">
                <a:solidFill>
                  <a:srgbClr val="1F2933"/>
                </a:solidFill>
                <a:latin typeface="Calibri"/>
              </a:rPr>
              <a:t>Top confusion: Federalism → Economic Activity for both LinearSVC (37 test cases) and Legal-BERT (49)</a:t>
            </a:r>
          </a:p>
          <a:p>
            <a:pPr algn="l" marL="274320" indent="-274320">
              <a:lnSpc>
                <a:spcPct val="105000"/>
              </a:lnSpc>
              <a:spcAft>
                <a:spcPts val="1000"/>
              </a:spcAft>
              <a:buClr>
                <a:srgbClr val="E8A33D"/>
              </a:buClr>
              <a:buFont typeface="Arial"/>
              <a:buChar char="•"/>
            </a:pPr>
            <a:r>
              <a:rPr sz="1700" b="0">
                <a:solidFill>
                  <a:srgbClr val="1F2933"/>
                </a:solidFill>
                <a:latin typeface="Calibri"/>
              </a:rPr>
              <a:t>Judicial Power is confused with Economic Activity, Criminal Procedure and Civil Rights</a:t>
            </a:r>
          </a:p>
          <a:p>
            <a:pPr algn="l" marL="274320" indent="-274320">
              <a:lnSpc>
                <a:spcPct val="105000"/>
              </a:lnSpc>
              <a:spcAft>
                <a:spcPts val="1000"/>
              </a:spcAft>
              <a:buClr>
                <a:srgbClr val="E8A33D"/>
              </a:buClr>
              <a:buFont typeface="Arial"/>
              <a:buChar char="•"/>
            </a:pPr>
            <a:r>
              <a:rPr sz="1700" b="0">
                <a:solidFill>
                  <a:srgbClr val="1F2933"/>
                </a:solidFill>
                <a:latin typeface="Calibri"/>
              </a:rPr>
              <a:t>Legal-BERT never correctly predicts Attorneys and Miscellaneous; Federalism recall 7%</a:t>
            </a:r>
          </a:p>
          <a:p>
            <a:pPr algn="l" marL="274320" indent="-274320">
              <a:lnSpc>
                <a:spcPct val="105000"/>
              </a:lnSpc>
              <a:spcAft>
                <a:spcPts val="1000"/>
              </a:spcAft>
              <a:buClr>
                <a:srgbClr val="E8A33D"/>
              </a:buClr>
              <a:buFont typeface="Arial"/>
              <a:buChar char="•"/>
            </a:pPr>
            <a:r>
              <a:rPr sz="1700" b="0">
                <a:solidFill>
                  <a:srgbClr val="1F2933"/>
                </a:solidFill>
                <a:latin typeface="Calibri"/>
              </a:rPr>
              <a:t>Different mistakes: 121 cases right only for SVC, 103 only for Legal-BERT</a:t>
            </a:r>
          </a:p>
          <a:p>
            <a:pPr algn="l" marL="274320" indent="-274320">
              <a:lnSpc>
                <a:spcPct val="105000"/>
              </a:lnSpc>
              <a:spcAft>
                <a:spcPts val="1000"/>
              </a:spcAft>
              <a:buClr>
                <a:srgbClr val="E8A33D"/>
              </a:buClr>
              <a:buFont typeface="Arial"/>
              <a:buChar char="•"/>
            </a:pPr>
            <a:r>
              <a:rPr sz="1700" b="0">
                <a:solidFill>
                  <a:srgbClr val="1F2933"/>
                </a:solidFill>
                <a:latin typeface="Calibri"/>
              </a:rPr>
              <a:t>Little length effect: accuracy by length quartile 0.694–0.769 (SVC), 0.706–0.732 (Legal-BERT)</a:t>
            </a:r>
          </a:p>
        </p:txBody>
      </p:sp>
      <p:pic>
        <p:nvPicPr>
          <p:cNvPr id="7" name="Picture 6" descr="confusion_matrix_normalized_transformer_legal_bert.png"/>
          <p:cNvPicPr>
            <a:picLocks noChangeAspect="1"/>
          </p:cNvPicPr>
          <p:nvPr/>
        </p:nvPicPr>
        <p:blipFill>
          <a:blip r:embed="rId3"/>
          <a:stretch>
            <a:fillRect/>
          </a:stretch>
        </p:blipFill>
        <p:spPr>
          <a:xfrm>
            <a:off x="5760720" y="1330452"/>
            <a:ext cx="6217920" cy="497433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Live demo: Streamlit app</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12 / 15</a:t>
            </a:r>
          </a:p>
        </p:txBody>
      </p:sp>
      <p:sp>
        <p:nvSpPr>
          <p:cNvPr id="6" name="TextBox 5"/>
          <p:cNvSpPr txBox="1"/>
          <p:nvPr/>
        </p:nvSpPr>
        <p:spPr>
          <a:xfrm>
            <a:off x="548640" y="1417320"/>
            <a:ext cx="4206240" cy="4754880"/>
          </a:xfrm>
          <a:prstGeom prst="rect">
            <a:avLst/>
          </a:prstGeom>
          <a:noFill/>
        </p:spPr>
        <p:txBody>
          <a:bodyPr wrap="square" anchor="t" lIns="45720" rIns="45720">
            <a:spAutoFit/>
          </a:bodyPr>
          <a:lstStyle/>
          <a:p>
            <a:pPr algn="l" marL="274320" indent="-274320">
              <a:lnSpc>
                <a:spcPct val="105000"/>
              </a:lnSpc>
              <a:spcAft>
                <a:spcPts val="1000"/>
              </a:spcAft>
              <a:buClr>
                <a:srgbClr val="E8A33D"/>
              </a:buClr>
              <a:buFont typeface="Arial"/>
              <a:buChar char="•"/>
            </a:pPr>
            <a:r>
              <a:rPr sz="1700" b="0">
                <a:solidFill>
                  <a:srgbClr val="1D4E89"/>
                </a:solidFill>
                <a:latin typeface="Calibri"/>
              </a:rPr>
              <a:t>streamlit run app.py</a:t>
            </a:r>
          </a:p>
          <a:p>
            <a:pPr algn="l" marL="274320" indent="-274320">
              <a:lnSpc>
                <a:spcPct val="105000"/>
              </a:lnSpc>
              <a:spcAft>
                <a:spcPts val="1000"/>
              </a:spcAft>
              <a:buClr>
                <a:srgbClr val="E8A33D"/>
              </a:buClr>
              <a:buFont typeface="Arial"/>
              <a:buChar char="•"/>
            </a:pPr>
            <a:r>
              <a:rPr sz="1700" b="0">
                <a:solidFill>
                  <a:srgbClr val="1F2933"/>
                </a:solidFill>
                <a:latin typeface="Calibri"/>
              </a:rPr>
              <a:t>Pick a sample test case or paste an opinion</a:t>
            </a:r>
          </a:p>
          <a:p>
            <a:pPr algn="l" marL="274320" indent="-274320">
              <a:lnSpc>
                <a:spcPct val="105000"/>
              </a:lnSpc>
              <a:spcAft>
                <a:spcPts val="1000"/>
              </a:spcAft>
              <a:buClr>
                <a:srgbClr val="E8A33D"/>
              </a:buClr>
              <a:buFont typeface="Arial"/>
              <a:buChar char="•"/>
            </a:pPr>
            <a:r>
              <a:rPr sz="1700" b="0">
                <a:solidFill>
                  <a:srgbClr val="1F2933"/>
                </a:solidFill>
                <a:latin typeface="Calibri"/>
              </a:rPr>
              <a:t>Live predictions from LinearSVC, LR and Legal-BERT with top-5 scores</a:t>
            </a:r>
          </a:p>
          <a:p>
            <a:pPr algn="l" marL="274320" indent="-274320">
              <a:lnSpc>
                <a:spcPct val="105000"/>
              </a:lnSpc>
              <a:spcAft>
                <a:spcPts val="1000"/>
              </a:spcAft>
              <a:buClr>
                <a:srgbClr val="E8A33D"/>
              </a:buClr>
              <a:buFont typeface="Arial"/>
              <a:buChar char="•"/>
            </a:pPr>
            <a:r>
              <a:rPr sz="1700" b="0">
                <a:solidFill>
                  <a:srgbClr val="1F2933"/>
                </a:solidFill>
                <a:latin typeface="Calibri"/>
              </a:rPr>
              <a:t>Truncation warning: how much text Legal-BERT read</a:t>
            </a:r>
          </a:p>
          <a:p>
            <a:pPr algn="l" marL="274320" indent="-274320">
              <a:lnSpc>
                <a:spcPct val="105000"/>
              </a:lnSpc>
              <a:spcAft>
                <a:spcPts val="1000"/>
              </a:spcAft>
              <a:buClr>
                <a:srgbClr val="E8A33D"/>
              </a:buClr>
              <a:buFont typeface="Arial"/>
              <a:buChar char="•"/>
            </a:pPr>
            <a:r>
              <a:rPr sz="1700" b="0">
                <a:solidFill>
                  <a:srgbClr val="1F2933"/>
                </a:solidFill>
                <a:latin typeface="Calibri"/>
              </a:rPr>
              <a:t>Stored full-document predictions for comparison</a:t>
            </a:r>
          </a:p>
          <a:p>
            <a:pPr algn="l" marL="274320" indent="-274320">
              <a:lnSpc>
                <a:spcPct val="105000"/>
              </a:lnSpc>
              <a:spcAft>
                <a:spcPts val="1000"/>
              </a:spcAft>
              <a:buClr>
                <a:srgbClr val="E8A33D"/>
              </a:buClr>
              <a:buFont typeface="Arial"/>
              <a:buChar char="•"/>
            </a:pPr>
            <a:r>
              <a:rPr sz="1700" b="0">
                <a:solidFill>
                  <a:srgbClr val="1F2933"/>
                </a:solidFill>
                <a:latin typeface="Calibri"/>
              </a:rPr>
              <a:t>Results tab: metrics, CIs, confusion matrices from results/</a:t>
            </a:r>
          </a:p>
        </p:txBody>
      </p:sp>
      <p:pic>
        <p:nvPicPr>
          <p:cNvPr id="7" name="Picture 6" descr="demo_screenshot.png"/>
          <p:cNvPicPr>
            <a:picLocks noChangeAspect="1"/>
          </p:cNvPicPr>
          <p:nvPr/>
        </p:nvPicPr>
        <p:blipFill>
          <a:blip r:embed="rId3"/>
          <a:stretch>
            <a:fillRect/>
          </a:stretch>
        </p:blipFill>
        <p:spPr>
          <a:xfrm>
            <a:off x="4846320" y="2081107"/>
            <a:ext cx="7040880" cy="342730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Limitations</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13 / 15</a:t>
            </a:r>
          </a:p>
        </p:txBody>
      </p:sp>
      <p:sp>
        <p:nvSpPr>
          <p:cNvPr id="6" name="TextBox 5"/>
          <p:cNvSpPr txBox="1"/>
          <p:nvPr/>
        </p:nvSpPr>
        <p:spPr>
          <a:xfrm>
            <a:off x="548640" y="1417320"/>
            <a:ext cx="10972800" cy="4754880"/>
          </a:xfrm>
          <a:prstGeom prst="rect">
            <a:avLst/>
          </a:prstGeom>
          <a:noFill/>
        </p:spPr>
        <p:txBody>
          <a:bodyPr wrap="square" anchor="t" lIns="45720" rIns="45720">
            <a:spAutoFit/>
          </a:bodyPr>
          <a:lstStyle/>
          <a:p>
            <a:pPr algn="l" marL="274320" indent="-274320">
              <a:lnSpc>
                <a:spcPct val="105000"/>
              </a:lnSpc>
              <a:spcAft>
                <a:spcPts val="1400"/>
              </a:spcAft>
              <a:buClr>
                <a:srgbClr val="E8A33D"/>
              </a:buClr>
              <a:buFont typeface="Arial"/>
              <a:buChar char="•"/>
            </a:pPr>
            <a:r>
              <a:rPr sz="2000" b="0">
                <a:solidFill>
                  <a:srgbClr val="1F2933"/>
                </a:solidFill>
                <a:latin typeface="Calibri"/>
              </a:rPr>
              <a:t>Legal-BERT sees only the first 512 tokens (≈ 20% of a typical opinion)</a:t>
            </a:r>
          </a:p>
          <a:p>
            <a:pPr algn="l" marL="274320" indent="-274320">
              <a:lnSpc>
                <a:spcPct val="105000"/>
              </a:lnSpc>
              <a:spcAft>
                <a:spcPts val="1400"/>
              </a:spcAft>
              <a:buClr>
                <a:srgbClr val="E8A33D"/>
              </a:buClr>
              <a:buFont typeface="Arial"/>
              <a:buChar char="•"/>
            </a:pPr>
            <a:r>
              <a:rPr sz="2000" b="0">
                <a:solidFill>
                  <a:srgbClr val="1F2933"/>
                </a:solidFill>
                <a:latin typeface="Calibri"/>
              </a:rPr>
              <a:t>LDA and Doc2Vec ran in reduced CPU configurations (K = 40 at the grid edge)</a:t>
            </a:r>
          </a:p>
          <a:p>
            <a:pPr algn="l" marL="274320" indent="-274320">
              <a:lnSpc>
                <a:spcPct val="105000"/>
              </a:lnSpc>
              <a:spcAft>
                <a:spcPts val="1400"/>
              </a:spcAft>
              <a:buClr>
                <a:srgbClr val="E8A33D"/>
              </a:buClr>
              <a:buFont typeface="Arial"/>
              <a:buChar char="•"/>
            </a:pPr>
            <a:r>
              <a:rPr sz="2000" b="0">
                <a:solidFill>
                  <a:srgbClr val="1F2933"/>
                </a:solidFill>
                <a:latin typeface="Calibri"/>
              </a:rPr>
              <a:t>One seed per model; Legal-BERT runs ranged 0.5124–0.5319</a:t>
            </a:r>
          </a:p>
          <a:p>
            <a:pPr algn="l" marL="274320" indent="-274320">
              <a:lnSpc>
                <a:spcPct val="105000"/>
              </a:lnSpc>
              <a:spcAft>
                <a:spcPts val="1400"/>
              </a:spcAft>
              <a:buClr>
                <a:srgbClr val="E8A33D"/>
              </a:buClr>
              <a:buFont typeface="Arial"/>
              <a:buChar char="•"/>
            </a:pPr>
            <a:r>
              <a:rPr sz="2000" b="0">
                <a:solidFill>
                  <a:srgbClr val="1F2933"/>
                </a:solidFill>
                <a:latin typeface="Calibri"/>
              </a:rPr>
              <a:t>Chronological split: test is a later period; every trained model drops val → test (LinearSVC by 0.089)</a:t>
            </a:r>
          </a:p>
          <a:p>
            <a:pPr algn="l" marL="274320" indent="-274320">
              <a:lnSpc>
                <a:spcPct val="105000"/>
              </a:lnSpc>
              <a:spcAft>
                <a:spcPts val="1400"/>
              </a:spcAft>
              <a:buClr>
                <a:srgbClr val="E8A33D"/>
              </a:buClr>
              <a:buFont typeface="Arial"/>
              <a:buChar char="•"/>
            </a:pPr>
            <a:r>
              <a:rPr sz="2000" b="0">
                <a:solidFill>
                  <a:srgbClr val="1F2933"/>
                </a:solidFill>
                <a:latin typeface="Calibri"/>
              </a:rPr>
              <a:t>Rare classes: test support 3, 15, 17 documents, so macro F1 is noisy</a:t>
            </a:r>
          </a:p>
          <a:p>
            <a:pPr algn="l" marL="274320" indent="-274320">
              <a:lnSpc>
                <a:spcPct val="105000"/>
              </a:lnSpc>
              <a:spcAft>
                <a:spcPts val="1400"/>
              </a:spcAft>
              <a:buClr>
                <a:srgbClr val="E8A33D"/>
              </a:buClr>
              <a:buFont typeface="Arial"/>
              <a:buChar char="•"/>
            </a:pPr>
            <a:r>
              <a:rPr sz="2000" b="0">
                <a:solidFill>
                  <a:srgbClr val="1F2933"/>
                </a:solidFill>
                <a:latin typeface="Calibri"/>
              </a:rPr>
              <a:t>Bootstrap CIs are unpaired and capture test sampling only; no class weighting anywhere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Conclusion and future work</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14 / 15</a:t>
            </a:r>
          </a:p>
        </p:txBody>
      </p:sp>
      <p:sp>
        <p:nvSpPr>
          <p:cNvPr id="6" name="TextBox 5"/>
          <p:cNvSpPr txBox="1"/>
          <p:nvPr/>
        </p:nvSpPr>
        <p:spPr>
          <a:xfrm>
            <a:off x="548640" y="1417320"/>
            <a:ext cx="5669280" cy="4754880"/>
          </a:xfrm>
          <a:prstGeom prst="rect">
            <a:avLst/>
          </a:prstGeom>
          <a:noFill/>
        </p:spPr>
        <p:txBody>
          <a:bodyPr wrap="square" anchor="t" lIns="45720" rIns="45720">
            <a:spAutoFit/>
          </a:bodyPr>
          <a:lstStyle/>
          <a:p>
            <a:pPr algn="l" marL="274320" indent="-274320">
              <a:lnSpc>
                <a:spcPct val="105000"/>
              </a:lnSpc>
              <a:spcAft>
                <a:spcPts val="1400"/>
              </a:spcAft>
              <a:buClr>
                <a:srgbClr val="E8A33D"/>
              </a:buClr>
              <a:buFont typeface="Arial"/>
              <a:buChar char="•"/>
            </a:pPr>
            <a:r>
              <a:rPr sz="1800" b="1">
                <a:solidFill>
                  <a:srgbClr val="1F2933"/>
                </a:solidFill>
                <a:latin typeface="Calibri"/>
              </a:rPr>
              <a:t>Whole-document TF-IDF + linear model wins:</a:t>
            </a:r>
            <a:r>
              <a:rPr sz="1800" b="0">
                <a:solidFill>
                  <a:srgbClr val="1F2933"/>
                </a:solidFill>
                <a:latin typeface="Calibri"/>
              </a:rPr>
              <a:t> LinearSVC 0.635, LR 0.629 macro F1</a:t>
            </a:r>
          </a:p>
          <a:p>
            <a:pPr algn="l" marL="274320" indent="-274320">
              <a:lnSpc>
                <a:spcPct val="105000"/>
              </a:lnSpc>
              <a:spcAft>
                <a:spcPts val="1400"/>
              </a:spcAft>
              <a:buClr>
                <a:srgbClr val="E8A33D"/>
              </a:buClr>
              <a:buFont typeface="Arial"/>
              <a:buChar char="•"/>
            </a:pPr>
            <a:r>
              <a:rPr sz="1800" b="1">
                <a:solidFill>
                  <a:srgbClr val="1F2933"/>
                </a:solidFill>
                <a:latin typeface="Calibri"/>
              </a:rPr>
              <a:t>Legal-BERT on 512 tokens:</a:t>
            </a:r>
            <a:r>
              <a:rPr sz="1800" b="0">
                <a:solidFill>
                  <a:srgbClr val="1F2933"/>
                </a:solidFill>
                <a:latin typeface="Calibri"/>
              </a:rPr>
              <a:t> close accuracy (0.724), lower macro F1 (0.512); fails on rare classes</a:t>
            </a:r>
          </a:p>
          <a:p>
            <a:pPr algn="l" marL="274320" indent="-274320">
              <a:lnSpc>
                <a:spcPct val="105000"/>
              </a:lnSpc>
              <a:spcAft>
                <a:spcPts val="1400"/>
              </a:spcAft>
              <a:buClr>
                <a:srgbClr val="E8A33D"/>
              </a:buClr>
              <a:buFont typeface="Arial"/>
              <a:buChar char="•"/>
            </a:pPr>
            <a:r>
              <a:rPr sz="1800" b="0">
                <a:solidFill>
                  <a:srgbClr val="1F2933"/>
                </a:solidFill>
                <a:latin typeface="Calibri"/>
              </a:rPr>
              <a:t>Paper methods 0.321 / 0.322 in reduced configurations</a:t>
            </a:r>
          </a:p>
          <a:p>
            <a:pPr algn="l" marL="274320" indent="-274320">
              <a:lnSpc>
                <a:spcPct val="105000"/>
              </a:lnSpc>
              <a:spcAft>
                <a:spcPts val="1400"/>
              </a:spcAft>
              <a:buClr>
                <a:srgbClr val="E8A33D"/>
              </a:buClr>
              <a:buFont typeface="Arial"/>
              <a:buChar char="•"/>
            </a:pPr>
            <a:r>
              <a:rPr sz="1800" b="0">
                <a:solidFill>
                  <a:srgbClr val="1F2933"/>
                </a:solidFill>
                <a:latin typeface="Calibri"/>
              </a:rPr>
              <a:t>Everything reproducible from saved predictions; numbers generated, not typed</a:t>
            </a:r>
          </a:p>
        </p:txBody>
      </p:sp>
      <p:sp>
        <p:nvSpPr>
          <p:cNvPr id="7" name="Rounded Rectangle 6"/>
          <p:cNvSpPr/>
          <p:nvPr/>
        </p:nvSpPr>
        <p:spPr>
          <a:xfrm>
            <a:off x="6583680" y="1554480"/>
            <a:ext cx="5120640" cy="548640"/>
          </a:xfrm>
          <a:prstGeom prst="roundRect">
            <a:avLst>
              <a:gd name="adj" fmla="val 1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Calibri"/>
              </a:rPr>
              <a:t>Future work</a:t>
            </a:r>
          </a:p>
        </p:txBody>
      </p:sp>
      <p:sp>
        <p:nvSpPr>
          <p:cNvPr id="8" name="TextBox 7"/>
          <p:cNvSpPr txBox="1"/>
          <p:nvPr/>
        </p:nvSpPr>
        <p:spPr>
          <a:xfrm>
            <a:off x="6675120" y="2286000"/>
            <a:ext cx="5029200" cy="3931920"/>
          </a:xfrm>
          <a:prstGeom prst="rect">
            <a:avLst/>
          </a:prstGeom>
          <a:noFill/>
        </p:spPr>
        <p:txBody>
          <a:bodyPr wrap="square" anchor="t" lIns="45720" rIns="45720">
            <a:spAutoFit/>
          </a:bodyPr>
          <a:lstStyle/>
          <a:p>
            <a:pPr algn="l" marL="274320" indent="-274320">
              <a:lnSpc>
                <a:spcPct val="105000"/>
              </a:lnSpc>
              <a:spcAft>
                <a:spcPts val="1000"/>
              </a:spcAft>
              <a:buClr>
                <a:srgbClr val="E8A33D"/>
              </a:buClr>
              <a:buFont typeface="Arial"/>
              <a:buChar char="•"/>
            </a:pPr>
            <a:r>
              <a:rPr sz="1700" b="0">
                <a:solidFill>
                  <a:srgbClr val="1F2933"/>
                </a:solidFill>
                <a:latin typeface="Calibri"/>
              </a:rPr>
              <a:t>Hierarchical Legal-BERT or Longformer over the whole opinion</a:t>
            </a:r>
          </a:p>
          <a:p>
            <a:pPr algn="l" marL="274320" indent="-274320">
              <a:lnSpc>
                <a:spcPct val="105000"/>
              </a:lnSpc>
              <a:spcAft>
                <a:spcPts val="1000"/>
              </a:spcAft>
              <a:buClr>
                <a:srgbClr val="E8A33D"/>
              </a:buClr>
              <a:buFont typeface="Arial"/>
              <a:buChar char="•"/>
            </a:pPr>
            <a:r>
              <a:rPr sz="1700" b="0">
                <a:solidFill>
                  <a:srgbClr val="1F2933"/>
                </a:solidFill>
                <a:latin typeface="Calibri"/>
              </a:rPr>
              <a:t>Class-weighted / focal loss for rare classes</a:t>
            </a:r>
          </a:p>
          <a:p>
            <a:pPr algn="l" marL="274320" indent="-274320">
              <a:lnSpc>
                <a:spcPct val="105000"/>
              </a:lnSpc>
              <a:spcAft>
                <a:spcPts val="1000"/>
              </a:spcAft>
              <a:buClr>
                <a:srgbClr val="E8A33D"/>
              </a:buClr>
              <a:buFont typeface="Arial"/>
              <a:buChar char="•"/>
            </a:pPr>
            <a:r>
              <a:rPr sz="1700" b="0">
                <a:solidFill>
                  <a:srgbClr val="1F2933"/>
                </a:solidFill>
                <a:latin typeface="Calibri"/>
              </a:rPr>
              <a:t>Several seeds; paired bootstrap or McNemar tests</a:t>
            </a:r>
          </a:p>
          <a:p>
            <a:pPr algn="l" marL="274320" indent="-274320">
              <a:lnSpc>
                <a:spcPct val="105000"/>
              </a:lnSpc>
              <a:spcAft>
                <a:spcPts val="1000"/>
              </a:spcAft>
              <a:buClr>
                <a:srgbClr val="E8A33D"/>
              </a:buClr>
              <a:buFont typeface="Arial"/>
              <a:buChar char="•"/>
            </a:pPr>
            <a:r>
              <a:rPr sz="1700" b="0">
                <a:solidFill>
                  <a:srgbClr val="1F2933"/>
                </a:solidFill>
                <a:latin typeface="Calibri"/>
              </a:rPr>
              <a:t>Full-size LDA and Doc2Vec; wider K grid</a:t>
            </a:r>
          </a:p>
          <a:p>
            <a:pPr algn="l" marL="274320" indent="-274320">
              <a:lnSpc>
                <a:spcPct val="105000"/>
              </a:lnSpc>
              <a:spcAft>
                <a:spcPts val="1000"/>
              </a:spcAft>
              <a:buClr>
                <a:srgbClr val="E8A33D"/>
              </a:buClr>
              <a:buFont typeface="Arial"/>
              <a:buChar char="•"/>
            </a:pPr>
            <a:r>
              <a:rPr sz="1700" b="0">
                <a:solidFill>
                  <a:srgbClr val="1F2933"/>
                </a:solidFill>
                <a:latin typeface="Calibri"/>
              </a:rPr>
              <a:t>Strip caption and counsel header before classifying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b" lIns="45720" rIns="45720">
            <a:spAutoFit/>
          </a:bodyPr>
          <a:lstStyle/>
          <a:p>
            <a:pPr algn="l">
              <a:lnSpc>
                <a:spcPct val="105000"/>
              </a:lnSpc>
              <a:spcAft>
                <a:spcPts val="800"/>
              </a:spcAft>
            </a:pPr>
            <a:r>
              <a:rPr sz="3000" b="1">
                <a:solidFill>
                  <a:srgbClr val="1D4E89"/>
                </a:solidFill>
                <a:latin typeface="Calibri"/>
              </a:rPr>
              <a:t>References</a:t>
            </a:r>
          </a:p>
        </p:txBody>
      </p:sp>
      <p:sp>
        <p:nvSpPr>
          <p:cNvPr id="3" name="Rectangle 2"/>
          <p:cNvSpPr/>
          <p:nvPr/>
        </p:nvSpPr>
        <p:spPr>
          <a:xfrm>
            <a:off x="594360" y="1097280"/>
            <a:ext cx="1005840" cy="54864"/>
          </a:xfrm>
          <a:prstGeom prst="rect">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0"/>
            <a:ext cx="7315200" cy="320040"/>
          </a:xfrm>
          <a:prstGeom prst="rect">
            <a:avLst/>
          </a:prstGeom>
          <a:noFill/>
        </p:spPr>
        <p:txBody>
          <a:bodyPr wrap="square" anchor="t" lIns="45720" rIns="45720">
            <a:spAutoFit/>
          </a:bodyPr>
          <a:lstStyle/>
          <a:p>
            <a:pPr algn="l">
              <a:lnSpc>
                <a:spcPct val="105000"/>
              </a:lnSpc>
              <a:spcAft>
                <a:spcPts val="800"/>
              </a:spcAft>
            </a:pPr>
            <a:r>
              <a:rPr sz="1000" b="0">
                <a:solidFill>
                  <a:srgbClr val="52606D"/>
                </a:solidFill>
                <a:latin typeface="Calibri"/>
              </a:rPr>
              <a:t>Classification of Legal Text · UE24CS352A Machine Learning</a:t>
            </a:r>
          </a:p>
        </p:txBody>
      </p:sp>
      <p:sp>
        <p:nvSpPr>
          <p:cNvPr id="5" name="TextBox 4"/>
          <p:cNvSpPr txBox="1"/>
          <p:nvPr/>
        </p:nvSpPr>
        <p:spPr>
          <a:xfrm>
            <a:off x="10241280" y="6400800"/>
            <a:ext cx="1371600" cy="320040"/>
          </a:xfrm>
          <a:prstGeom prst="rect">
            <a:avLst/>
          </a:prstGeom>
          <a:noFill/>
        </p:spPr>
        <p:txBody>
          <a:bodyPr wrap="square" anchor="t" lIns="45720" rIns="45720">
            <a:spAutoFit/>
          </a:bodyPr>
          <a:lstStyle/>
          <a:p>
            <a:pPr algn="r">
              <a:lnSpc>
                <a:spcPct val="105000"/>
              </a:lnSpc>
              <a:spcAft>
                <a:spcPts val="800"/>
              </a:spcAft>
            </a:pPr>
            <a:r>
              <a:rPr sz="1000" b="0">
                <a:solidFill>
                  <a:srgbClr val="52606D"/>
                </a:solidFill>
                <a:latin typeface="Calibri"/>
              </a:rPr>
              <a:t>15 / 15</a:t>
            </a:r>
          </a:p>
        </p:txBody>
      </p:sp>
      <p:sp>
        <p:nvSpPr>
          <p:cNvPr id="6" name="TextBox 5"/>
          <p:cNvSpPr txBox="1"/>
          <p:nvPr/>
        </p:nvSpPr>
        <p:spPr>
          <a:xfrm>
            <a:off x="548640" y="1417320"/>
            <a:ext cx="11064240" cy="3566160"/>
          </a:xfrm>
          <a:prstGeom prst="rect">
            <a:avLst/>
          </a:prstGeom>
          <a:noFill/>
        </p:spPr>
        <p:txBody>
          <a:bodyPr wrap="square" anchor="t" lIns="45720" rIns="45720">
            <a:spAutoFit/>
          </a:bodyPr>
          <a:lstStyle/>
          <a:p>
            <a:pPr algn="l" marL="274320" indent="-274320">
              <a:lnSpc>
                <a:spcPct val="105000"/>
              </a:lnSpc>
              <a:spcAft>
                <a:spcPts val="1200"/>
              </a:spcAft>
              <a:buClr>
                <a:srgbClr val="E8A33D"/>
              </a:buClr>
              <a:buFont typeface="Arial"/>
              <a:buChar char="•"/>
            </a:pPr>
            <a:r>
              <a:rPr sz="1600" b="0">
                <a:solidFill>
                  <a:srgbClr val="1F2933"/>
                </a:solidFill>
                <a:latin typeface="Calibri"/>
              </a:rPr>
              <a:t>K. Iyer. </a:t>
            </a:r>
            <a:r>
              <a:rPr sz="1600" b="0" i="1">
                <a:solidFill>
                  <a:srgbClr val="1F2933"/>
                </a:solidFill>
                <a:latin typeface="Calibri"/>
              </a:rPr>
              <a:t>Classification of Legal Text.</a:t>
            </a:r>
            <a:r>
              <a:rPr sz="1600" b="0">
                <a:solidFill>
                  <a:srgbClr val="1F2933"/>
                </a:solidFill>
                <a:latin typeface="Calibri"/>
              </a:rPr>
              <a:t> Stanford CS229 project report, Spring 2020.</a:t>
            </a:r>
          </a:p>
          <a:p>
            <a:pPr algn="l" marL="274320" indent="-274320">
              <a:lnSpc>
                <a:spcPct val="105000"/>
              </a:lnSpc>
              <a:spcAft>
                <a:spcPts val="1200"/>
              </a:spcAft>
              <a:buClr>
                <a:srgbClr val="E8A33D"/>
              </a:buClr>
              <a:buFont typeface="Arial"/>
              <a:buChar char="•"/>
            </a:pPr>
            <a:r>
              <a:rPr sz="1600" b="0">
                <a:solidFill>
                  <a:srgbClr val="1F2933"/>
                </a:solidFill>
                <a:latin typeface="Calibri"/>
              </a:rPr>
              <a:t>I. Chalkidis, A. Jana, D. Hartung, M. Bommarito, I. Androutsopoulos, D. M. Katz, N. Aletras. LexGLUE: A Benchmark Dataset for Legal Language Understanding in English. ACL 2022 (arXiv:2110.00976).</a:t>
            </a:r>
          </a:p>
          <a:p>
            <a:pPr algn="l" marL="274320" indent="-274320">
              <a:lnSpc>
                <a:spcPct val="105000"/>
              </a:lnSpc>
              <a:spcAft>
                <a:spcPts val="1200"/>
              </a:spcAft>
              <a:buClr>
                <a:srgbClr val="E8A33D"/>
              </a:buClr>
              <a:buFont typeface="Arial"/>
              <a:buChar char="•"/>
            </a:pPr>
            <a:r>
              <a:rPr sz="1600" b="0">
                <a:solidFill>
                  <a:srgbClr val="1F2933"/>
                </a:solidFill>
                <a:latin typeface="Calibri"/>
              </a:rPr>
              <a:t>H. J. Spaeth, L. Epstein, J. A. Segal, A. D. Martin, T. J. Ruger, S. C. Benesh. Supreme Court Database, Version 2020 Release 01. Washington University Law.</a:t>
            </a:r>
          </a:p>
          <a:p>
            <a:pPr algn="l" marL="274320" indent="-274320">
              <a:lnSpc>
                <a:spcPct val="105000"/>
              </a:lnSpc>
              <a:spcAft>
                <a:spcPts val="1200"/>
              </a:spcAft>
              <a:buClr>
                <a:srgbClr val="E8A33D"/>
              </a:buClr>
              <a:buFont typeface="Arial"/>
              <a:buChar char="•"/>
            </a:pPr>
            <a:r>
              <a:rPr sz="1600" b="0">
                <a:solidFill>
                  <a:srgbClr val="1F2933"/>
                </a:solidFill>
                <a:latin typeface="Calibri"/>
              </a:rPr>
              <a:t>I. Chalkidis, M. Fergadiotis, P. Malakasiotis, N. Aletras, I. Androutsopoulos. LEGAL-BERT: The Muppets straight out of Law School. Findings of EMNLP 2020.</a:t>
            </a:r>
          </a:p>
        </p:txBody>
      </p:sp>
      <p:sp>
        <p:nvSpPr>
          <p:cNvPr id="7" name="TextBox 6"/>
          <p:cNvSpPr txBox="1"/>
          <p:nvPr/>
        </p:nvSpPr>
        <p:spPr>
          <a:xfrm>
            <a:off x="548640" y="5029200"/>
            <a:ext cx="11064240" cy="1097280"/>
          </a:xfrm>
          <a:prstGeom prst="rect">
            <a:avLst/>
          </a:prstGeom>
          <a:noFill/>
        </p:spPr>
        <p:txBody>
          <a:bodyPr wrap="square" anchor="t" lIns="45720" rIns="45720">
            <a:spAutoFit/>
          </a:bodyPr>
          <a:lstStyle/>
          <a:p>
            <a:pPr algn="l">
              <a:lnSpc>
                <a:spcPct val="105000"/>
              </a:lnSpc>
              <a:spcAft>
                <a:spcPts val="400"/>
              </a:spcAft>
            </a:pPr>
            <a:r>
              <a:rPr sz="1500" b="0">
                <a:solidFill>
                  <a:srgbClr val="52606D"/>
                </a:solidFill>
                <a:latin typeface="Calibri"/>
              </a:rPr>
              <a:t>Code and results: github.com/AhanaSrinivas/legal-text-classification</a:t>
            </a:r>
          </a:p>
          <a:p>
            <a:pPr algn="l">
              <a:lnSpc>
                <a:spcPct val="105000"/>
              </a:lnSpc>
              <a:spcAft>
                <a:spcPts val="400"/>
              </a:spcAft>
            </a:pPr>
            <a:r>
              <a:rPr sz="1500" b="0">
                <a:solidFill>
                  <a:srgbClr val="52606D"/>
                </a:solidFill>
                <a:latin typeface="Calibri"/>
              </a:rPr>
              <a:t>Model artifacts: huggingface.co/AhanaSrinivas/legal-text-classification-artifacts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Legal Text</dc:title>
  <dc:subject/>
  <dc:creator>[Member 1 Name / SRN], [Member 2 Name / SRN]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